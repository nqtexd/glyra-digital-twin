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a556efc620847f8" /><Relationship Type="http://schemas.openxmlformats.org/officeDocument/2006/relationships/extended-properties" Target="/docProps/app.xml" Id="R3d6157a72c3d40bb" /><Relationship Type="http://schemas.openxmlformats.org/officeDocument/2006/relationships/officeDocument" Target="/ppt/presentation.xml" Id="R9b59d58e8b034da0" /></Relationships>
</file>

<file path=ppt/presentation.xml><?xml version="1.0" encoding="utf-8"?>
<p:presentation xmlns:p="http://schemas.openxmlformats.org/presentationml/2006/main">
  <p:sldMasterIdLst>
    <p:sldMasterId xmlns:r="http://schemas.openxmlformats.org/officeDocument/2006/relationships" id="2147483648" r:id="R9bf7bc2b46f84207"/>
  </p:sldMasterIdLst>
  <p:notesMasterIdLst>
    <p:notesMasterId xmlns:r="http://schemas.openxmlformats.org/officeDocument/2006/relationships" r:id="Rf57a5eefd6384108"/>
  </p:notesMasterIdLst>
  <p:sldIdLst>
    <p:sldId xmlns:r="http://schemas.openxmlformats.org/officeDocument/2006/relationships" id="256" r:id="R2c0ec01143db45bb"/>
    <p:sldId xmlns:r="http://schemas.openxmlformats.org/officeDocument/2006/relationships" id="257" r:id="R1fcba550975d4791"/>
    <p:sldId xmlns:r="http://schemas.openxmlformats.org/officeDocument/2006/relationships" id="258" r:id="R919197c33c794f30"/>
    <p:sldId xmlns:r="http://schemas.openxmlformats.org/officeDocument/2006/relationships" id="259" r:id="R3f17ea1b12904954"/>
    <p:sldId xmlns:r="http://schemas.openxmlformats.org/officeDocument/2006/relationships" id="260" r:id="Rd13a0c160dfb4246"/>
    <p:sldId xmlns:r="http://schemas.openxmlformats.org/officeDocument/2006/relationships" id="261" r:id="R9fbf7112f8104741"/>
    <p:sldId xmlns:r="http://schemas.openxmlformats.org/officeDocument/2006/relationships" id="262" r:id="R90261aad331947f3"/>
    <p:sldId xmlns:r="http://schemas.openxmlformats.org/officeDocument/2006/relationships" id="263" r:id="R48dd222c431347e2"/>
    <p:sldId xmlns:r="http://schemas.openxmlformats.org/officeDocument/2006/relationships" id="264" r:id="Rcae7557b2b724239"/>
    <p:sldId xmlns:r="http://schemas.openxmlformats.org/officeDocument/2006/relationships" id="265" r:id="Rc6a778ce03fb4437"/>
    <p:sldId xmlns:r="http://schemas.openxmlformats.org/officeDocument/2006/relationships" id="266" r:id="R87c4ed990a6b4beb"/>
    <p:sldId xmlns:r="http://schemas.openxmlformats.org/officeDocument/2006/relationships" id="267" r:id="Re87170407d144a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2309be27534df0" /><Relationship Type="http://schemas.openxmlformats.org/officeDocument/2006/relationships/slideMaster" Target="/ppt/slideMasters/slideMaster1.xml" Id="R9bf7bc2b46f84207" /><Relationship Type="http://schemas.openxmlformats.org/officeDocument/2006/relationships/notesMaster" Target="/ppt/notesMasters/notesMaster1.xml" Id="Rf57a5eefd6384108" /><Relationship Type="http://schemas.openxmlformats.org/officeDocument/2006/relationships/presProps" Target="/ppt/presProps.xml" Id="R86c65a80d6fd493f" /><Relationship Type="http://schemas.openxmlformats.org/officeDocument/2006/relationships/tableStyles" Target="/ppt/tableStyles.xml" Id="R1b6002ffc7e141ff" /><Relationship Type="http://schemas.openxmlformats.org/officeDocument/2006/relationships/slide" Target="/ppt/slides/slide1.xml" Id="R2c0ec01143db45bb" /><Relationship Type="http://schemas.openxmlformats.org/officeDocument/2006/relationships/slide" Target="/ppt/slides/slide2.xml" Id="R1fcba550975d4791" /><Relationship Type="http://schemas.openxmlformats.org/officeDocument/2006/relationships/slide" Target="/ppt/slides/slide3.xml" Id="R919197c33c794f30" /><Relationship Type="http://schemas.openxmlformats.org/officeDocument/2006/relationships/slide" Target="/ppt/slides/slide4.xml" Id="R3f17ea1b12904954" /><Relationship Type="http://schemas.openxmlformats.org/officeDocument/2006/relationships/slide" Target="/ppt/slides/slide5.xml" Id="Rd13a0c160dfb4246" /><Relationship Type="http://schemas.openxmlformats.org/officeDocument/2006/relationships/slide" Target="/ppt/slides/slide6.xml" Id="R9fbf7112f8104741" /><Relationship Type="http://schemas.openxmlformats.org/officeDocument/2006/relationships/slide" Target="/ppt/slides/slide7.xml" Id="R90261aad331947f3" /><Relationship Type="http://schemas.openxmlformats.org/officeDocument/2006/relationships/slide" Target="/ppt/slides/slide8.xml" Id="R48dd222c431347e2" /><Relationship Type="http://schemas.openxmlformats.org/officeDocument/2006/relationships/slide" Target="/ppt/slides/slide9.xml" Id="Rcae7557b2b724239" /><Relationship Type="http://schemas.openxmlformats.org/officeDocument/2006/relationships/slide" Target="/ppt/slides/slide10.xml" Id="Rc6a778ce03fb4437" /><Relationship Type="http://schemas.openxmlformats.org/officeDocument/2006/relationships/slide" Target="/ppt/slides/slide11.xml" Id="R87c4ed990a6b4beb" /><Relationship Type="http://schemas.openxmlformats.org/officeDocument/2006/relationships/slide" Target="/ppt/slides/slide12.xml" Id="Re87170407d144a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fd606299ef4b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e90ef9bf474be2" /><Relationship Type="http://schemas.openxmlformats.org/officeDocument/2006/relationships/notesMaster" Target="/ppt/notesMasters/notesMaster1.xml" Id="R7965a0649bfd4c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a52a02bf964e8d" /><Relationship Type="http://schemas.openxmlformats.org/officeDocument/2006/relationships/notesMaster" Target="/ppt/notesMasters/notesMaster1.xml" Id="R694fe2077a6f4d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7cb33bfc9c41c7" /><Relationship Type="http://schemas.openxmlformats.org/officeDocument/2006/relationships/notesMaster" Target="/ppt/notesMasters/notesMaster1.xml" Id="R26e6aa019c354c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413c8dbd104e27" /><Relationship Type="http://schemas.openxmlformats.org/officeDocument/2006/relationships/notesMaster" Target="/ppt/notesMasters/notesMaster1.xml" Id="R703c81ee997845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00389859064091" /><Relationship Type="http://schemas.openxmlformats.org/officeDocument/2006/relationships/notesMaster" Target="/ppt/notesMasters/notesMaster1.xml" Id="R285e9b41ff0341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bdac724ce74edb" /><Relationship Type="http://schemas.openxmlformats.org/officeDocument/2006/relationships/notesMaster" Target="/ppt/notesMasters/notesMaster1.xml" Id="R893e45cb547048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f52c194a154958" /><Relationship Type="http://schemas.openxmlformats.org/officeDocument/2006/relationships/notesMaster" Target="/ppt/notesMasters/notesMaster1.xml" Id="R79d29870e93743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0e098f0f7e4806" /><Relationship Type="http://schemas.openxmlformats.org/officeDocument/2006/relationships/notesMaster" Target="/ppt/notesMasters/notesMaster1.xml" Id="R4fa951b7745f44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78aaeaae1349d0" /><Relationship Type="http://schemas.openxmlformats.org/officeDocument/2006/relationships/notesMaster" Target="/ppt/notesMasters/notesMaster1.xml" Id="R80afde391a3344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cb0afd9ba74e05" /><Relationship Type="http://schemas.openxmlformats.org/officeDocument/2006/relationships/notesMaster" Target="/ppt/notesMasters/notesMaster1.xml" Id="Rfc057b0f509543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d3c3c602984e6e" /><Relationship Type="http://schemas.openxmlformats.org/officeDocument/2006/relationships/notesMaster" Target="/ppt/notesMasters/notesMaster1.xml" Id="R40e688521d1948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d6bde6b59d466c" /><Relationship Type="http://schemas.openxmlformats.org/officeDocument/2006/relationships/notesMaster" Target="/ppt/notesMasters/notesMaster1.xml" Id="Rbb46386c378947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Glyra. A software-only research prototype for the Digital Twin Challenge and open innovation. Codex assisted research, development, design and documentation. Source and reproducible benchmark accompany the deck. All patient records and results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https://diabetesjournals.org/clinical/article/42/3/398/154390/Detection-and-Intervention-Use-of-Continuous ; https://pmc.ncbi.nlm.nih.gov/articles/PMC6806292/ . The published forecasting work concerns type 1 diabetes and does not validate this type 2 synthetic prototype. No clinical outcome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 screenshot captured from the local app. Overview includes patient selection, recent events, replay, source provenance, threshold crossings and review export. The 180 mg/dL review threshold is illustrative and configurable.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reflects dist/engine.js, app.js and train.py. Synthetic data only. Data-quality failures withhold model output. The offline training pipeline exports coefficients, residual quantiles and held-out metrics; runtime loads these static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train.py and dist/data/benchmark.json. Correct total windows: 18,400 train + 4,600 calibration + 4,600 test = 27,600. Each group contains different synthetic people. Seed is 4100 + person id. Ridge uses fixed penalty chosen as a simple baseline, not tuned against test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dist/data/benchmark.json generated by train.py. MAE / RMSE at 30 min 6.48 / 12.56; 60 min 13.53 / 21.14; 90 min 18.03 / 24.66; 120 min 19.64 / 25.38 mg/dL. Persistence MAE 10.35,18.48,25.09,29.79. Empirical pointwise interval coverage 90.0,89.9,89.9,89.8%. Windows within a person are dependent. These synthetic results do not establish clinical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data contract: CSV header minute,glucose; 13 or more rows; exact increasing five-minute intervals; glucose 40–400; at most 5,000 rows and 500 KB. Imported values paired with synthetic context are unsupported for real physiology. No medication fields or real health records are collected.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missing-reading demonstration. The same engine gate handles invalid numeric values, out-of-order timestamps, stale readings and out-of-range EHR context. This is an input-compatibility gate, not a clinical safety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scenario dialog screenshot. A scenario is an exploratory record edit, not a causal effect estimate. Original calibrated intervals do not guarantee coverage for scenario edits. Sliders stay inside the generator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Patient-level test MAE at 120 minutes ranges from 12.21 to 26.43 mg/dL across synthetic test people. Nominal intervals are marginal and pointwise, not simultaneous trajectory guarantees. Correlated windows and distribution shift limit interpretation. Research: https://pmc.ncbi.nlm.nih.gov/articles/PMC13119999/ ; https://pmc.ncbi.nlm.nih.gov/articles/PMC6806292/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interviews, hospital customers, clinical pilot, commercial revenue or economic savings have been demonstrated. Proposed research roadmap is conditional on data governance, partners and validation. The present deliverable is a transparent prototype, not a deployed clinical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disclosure: Codex assisted research, implementation, visual design, tests, deck and demonstration preparation. The submission does not claim unaided authorship. See RESEARCH.md, README.md, train.py, dist/engine.js, dist/data/benchmark.json and tests/engine.test.mjs. Research references appear in notes on the relevant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ad0aa0187d4d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6ed3315f4040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9e547b1dcb41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9adc82f0d440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719fc9518748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857a67af7349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3EE350-D4DF-4367-949B-D1FC19F33C8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EBDEE2-DF03-41F3-A7AE-B0C935A2B6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CE06753-FAD0-40C3-9B56-3E74CA6A900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39E718-A0D6-45FD-8E21-482A5E9BB6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A98D09-6C3C-40C9-8748-997948E3390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A576C0-989D-4B1F-B6DC-500DCE1712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0542E5-E47B-48D1-A125-5FED02E8C7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171434C-374C-4710-BABD-B555C3A4ED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150570-C198-4F6F-89C8-CC804F9B8C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DDDBD8-E7A8-4189-922D-529E99FC4E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413eae864d4b29" /><Relationship Type="http://schemas.openxmlformats.org/officeDocument/2006/relationships/slideLayout" Target="/ppt/slideLayouts/slideLayout1.xml" Id="R9ee5aa2a8faa4c27" /><Relationship Type="http://schemas.openxmlformats.org/officeDocument/2006/relationships/slideLayout" Target="/ppt/slideLayouts/slideLayout2.xml" Id="R0dee326d30a84fb2" /><Relationship Type="http://schemas.openxmlformats.org/officeDocument/2006/relationships/slideLayout" Target="/ppt/slideLayouts/slideLayout3.xml" Id="R219738d35c544611" /><Relationship Type="http://schemas.openxmlformats.org/officeDocument/2006/relationships/slideLayout" Target="/ppt/slideLayouts/slideLayout4.xml" Id="R84b221687f244f60" /><Relationship Type="http://schemas.openxmlformats.org/officeDocument/2006/relationships/slideLayout" Target="/ppt/slideLayouts/slideLayout5.xml" Id="R75effa8a5f824dfe" /><Relationship Type="http://schemas.openxmlformats.org/officeDocument/2006/relationships/slideLayout" Target="/ppt/slideLayouts/slideLayout6.xml" Id="Rbeadfd07103c43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e5aa2a8faa4c27"/>
    <p:sldLayoutId xmlns:r="http://schemas.openxmlformats.org/officeDocument/2006/relationships" id="2147483650" r:id="R0dee326d30a84fb2"/>
    <p:sldLayoutId xmlns:r="http://schemas.openxmlformats.org/officeDocument/2006/relationships" id="2147483651" r:id="R219738d35c544611"/>
    <p:sldLayoutId xmlns:r="http://schemas.openxmlformats.org/officeDocument/2006/relationships" id="2147483652" r:id="R84b221687f244f60"/>
    <p:sldLayoutId xmlns:r="http://schemas.openxmlformats.org/officeDocument/2006/relationships" id="2147483653" r:id="R75effa8a5f824dfe"/>
    <p:sldLayoutId xmlns:r="http://schemas.openxmlformats.org/officeDocument/2006/relationships" id="2147483654" r:id="Rbeadfd07103c43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1e56f551b745cc" /><Relationship Type="http://schemas.openxmlformats.org/officeDocument/2006/relationships/notesSlide" Target="/ppt/notesSlides/notesSlide1.xml" Id="Re7a91aeee50543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f501213143a427f" /><Relationship Type="http://schemas.openxmlformats.org/officeDocument/2006/relationships/notesSlide" Target="/ppt/notesSlides/notesSlide2.xml" Id="R3a251baef19d4e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441bb4f75654bd4" /><Relationship Type="http://schemas.openxmlformats.org/officeDocument/2006/relationships/image" Target="/ppt/media/image.png" Id="R390ffa0b62264d34" /><Relationship Type="http://schemas.openxmlformats.org/officeDocument/2006/relationships/notesSlide" Target="/ppt/notesSlides/notesSlide3.xml" Id="R3b4a3e0f116e48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2bcc766008426b" /><Relationship Type="http://schemas.openxmlformats.org/officeDocument/2006/relationships/notesSlide" Target="/ppt/notesSlides/notesSlide4.xml" Id="R915814f4b30b4d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8bc945d7d34f0f" /><Relationship Type="http://schemas.openxmlformats.org/officeDocument/2006/relationships/notesSlide" Target="/ppt/notesSlides/notesSlide5.xml" Id="Rbcef9db1bd0542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7d439d983f14513" /><Relationship Type="http://schemas.openxmlformats.org/officeDocument/2006/relationships/chart" Target="/ppt/slides/charts/chart1.xml" Id="R35b4c11d49d2417a" /><Relationship Type="http://schemas.openxmlformats.org/officeDocument/2006/relationships/notesSlide" Target="/ppt/notesSlides/notesSlide6.xml" Id="R46aafebabb3246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36e57a12606421c" /><Relationship Type="http://schemas.openxmlformats.org/officeDocument/2006/relationships/notesSlide" Target="/ppt/notesSlides/notesSlide7.xml" Id="Rb178c43cec2445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09acf17ebc04651" /><Relationship Type="http://schemas.openxmlformats.org/officeDocument/2006/relationships/image" Target="/ppt/media/image2.png" Id="Rfc30fa56b42c4e6d" /><Relationship Type="http://schemas.openxmlformats.org/officeDocument/2006/relationships/notesSlide" Target="/ppt/notesSlides/notesSlide8.xml" Id="R92088353c3e843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bde05ab793a44fe" /><Relationship Type="http://schemas.openxmlformats.org/officeDocument/2006/relationships/image" Target="/ppt/media/image3.png" Id="R972ce3c2f8014e59" /><Relationship Type="http://schemas.openxmlformats.org/officeDocument/2006/relationships/notesSlide" Target="/ppt/notesSlides/notesSlide9.xml" Id="R7271c7f158334c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4fef092c95b4d01" /><Relationship Type="http://schemas.openxmlformats.org/officeDocument/2006/relationships/notesSlide" Target="/ppt/notesSlides/notesSlide10.xml" Id="R711ff0e86db543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87e47e9b0f24fde" /><Relationship Type="http://schemas.openxmlformats.org/officeDocument/2006/relationships/notesSlide" Target="/ppt/notesSlides/notesSlide11.xml" Id="R484ed759f20240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4f3f00942f144a8" /><Relationship Type="http://schemas.openxmlformats.org/officeDocument/2006/relationships/notesSlide" Target="/ppt/notesSlides/notesSlide12.xml" Id="R94d099f32cce42b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Glyra MAE</c:v>
          </c:tx>
          <c:spPr>
            <a:solidFill xmlns:a="http://schemas.openxmlformats.org/drawingml/2006/main">
              <a:srgbClr val="14735B"/>
            </a:solidFill>
          </c:spPr>
          <c:invertIfNegative val="0"/>
          <c:cat>
            <c:strRef>
              <c:f>'Chart Data'!$A$2:$A$5</c:f>
              <c:strCache>
                <c:ptCount val="4"/>
                <c:pt idx="0">
                  <c:v>+30 min</c:v>
                </c:pt>
                <c:pt idx="1">
                  <c:v>+60 min</c:v>
                </c:pt>
                <c:pt idx="2">
                  <c:v>+90 min</c:v>
                </c:pt>
                <c:pt idx="3">
                  <c:v>+120 min</c:v>
                </c:pt>
              </c:strCache>
            </c:strRef>
          </c:cat>
          <c:val>
            <c:numRef>
              <c:f>'Chart Data'!$B$2:$B$5</c:f>
              <c:numCache>
                <c:formatCode>General</c:formatCode>
                <c:ptCount val="4"/>
                <c:pt idx="0">
                  <c:v>6.48</c:v>
                </c:pt>
                <c:pt idx="1">
                  <c:v>13.53</c:v>
                </c:pt>
                <c:pt idx="2">
                  <c:v>18.03</c:v>
                </c:pt>
                <c:pt idx="3">
                  <c:v>19.64</c:v>
                </c:pt>
              </c:numCache>
            </c:numRef>
          </c:val>
        </c:ser>
        <c:ser>
          <c:idx val="1"/>
          <c:order val="1"/>
          <c:tx>
            <c:v>Persistence MAE</c:v>
          </c:tx>
          <c:spPr>
            <a:solidFill xmlns:a="http://schemas.openxmlformats.org/drawingml/2006/main">
              <a:srgbClr val="BCCBC0"/>
            </a:solidFill>
          </c:spPr>
          <c:invertIfNegative val="0"/>
          <c:cat>
            <c:strRef>
              <c:f>'Chart Data'!$C$2:$C$5</c:f>
              <c:strCache>
                <c:ptCount val="4"/>
                <c:pt idx="0">
                  <c:v>+30 min</c:v>
                </c:pt>
                <c:pt idx="1">
                  <c:v>+60 min</c:v>
                </c:pt>
                <c:pt idx="2">
                  <c:v>+90 min</c:v>
                </c:pt>
                <c:pt idx="3">
                  <c:v>+120 min</c:v>
                </c:pt>
              </c:strCache>
            </c:strRef>
          </c:cat>
          <c:val>
            <c:numRef>
              <c:f>'Chart Data'!$D$2:$D$5</c:f>
              <c:numCache>
                <c:formatCode>General</c:formatCode>
                <c:ptCount val="4"/>
                <c:pt idx="0">
                  <c:v>10.35</c:v>
                </c:pt>
                <c:pt idx="1">
                  <c:v>18.48</c:v>
                </c:pt>
                <c:pt idx="2">
                  <c:v>25.09</c:v>
                </c:pt>
                <c:pt idx="3">
                  <c:v>29.79</c:v>
                </c:pt>
              </c:numCache>
            </c:numRef>
          </c:val>
        </c:ser>
        <c:dLbls>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5D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MAE, mg/dL</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62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7ACFBD5-2D63-44AE-8E4F-882769CEA427}"/>
              </a:ext>
            </a:extLst>
          </p:cNvPr>
          <p:cNvSpPr>
            <a:spLocks xmlns:a="http://schemas.openxmlformats.org/drawingml/2006/main" noGrp="1"/>
          </p:cNvSpPr>
          <p:nvPr/>
        </p:nvSpPr>
        <p:spPr>
          <a:xfrm xmlns:a="http://schemas.openxmlformats.org/drawingml/2006/main">
            <a:off x="609600" y="161925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0" b="1">
                <a:solidFill>
                  <a:srgbClr val="FFFFFF"/>
                </a:solidFill>
                <a:latin typeface="Arial"/>
                <a:ea typeface="Arial"/>
                <a:cs typeface="Arial"/>
              </a:defRPr>
            </a:defPPr>
          </a:lstStyle>
          <a:p xmlns:a="http://schemas.openxmlformats.org/drawingml/2006/main">
            <a:pPr>
              <a:defRPr sz="7500" b="1">
                <a:solidFill>
                  <a:srgbClr val="FFFFFF"/>
                </a:solidFill>
                <a:latin typeface="Arial"/>
                <a:ea typeface="Arial"/>
                <a:cs typeface="Arial"/>
              </a:defRPr>
            </a:pPr>
            <a:r>
              <a:rPr sz="7500" b="1">
                <a:solidFill>
                  <a:srgbClr val="FFFFFF"/>
                </a:solidFill>
                <a:latin typeface="Arial"/>
                <a:ea typeface="Arial"/>
                <a:cs typeface="Arial"/>
              </a:rPr>
              <a:t>Glyra</a:t>
            </a:r>
          </a:p>
        </p:txBody>
      </p:sp>
      <p:sp>
        <p:nvSpPr>
          <p:cNvPr id="2" name="">
            <a:extLst xmlns:a="http://schemas.openxmlformats.org/drawingml/2006/main">
              <a:ext uri="{FF2B5EF4-FFF2-40B4-BE49-F238E27FC236}">
                <a16:creationId xmlns:a16="http://schemas.microsoft.com/office/drawing/2014/main" id="{252866D0-E9C4-4FA1-AA38-0F007DE01EE0}"/>
              </a:ext>
            </a:extLst>
          </p:cNvPr>
          <p:cNvSpPr>
            <a:spLocks xmlns:a="http://schemas.openxmlformats.org/drawingml/2006/main" noGrp="1"/>
          </p:cNvSpPr>
          <p:nvPr/>
        </p:nvSpPr>
        <p:spPr>
          <a:xfrm xmlns:a="http://schemas.openxmlformats.org/drawingml/2006/main">
            <a:off x="647700" y="30765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D9E8DF"/>
                </a:solidFill>
                <a:latin typeface="Arial"/>
                <a:ea typeface="Arial"/>
                <a:cs typeface="Arial"/>
              </a:defRPr>
            </a:defPPr>
          </a:lstStyle>
          <a:p xmlns:a="http://schemas.openxmlformats.org/drawingml/2006/main">
            <a:pPr>
              <a:defRPr sz="2850" b="0">
                <a:solidFill>
                  <a:srgbClr val="D9E8DF"/>
                </a:solidFill>
                <a:latin typeface="Arial"/>
                <a:ea typeface="Arial"/>
                <a:cs typeface="Arial"/>
              </a:defRPr>
            </a:pPr>
            <a:r>
              <a:rPr sz="2850" b="0">
                <a:solidFill>
                  <a:srgbClr val="D9E8DF"/>
                </a:solidFill>
                <a:latin typeface="Arial"/>
                <a:ea typeface="Arial"/>
                <a:cs typeface="Arial"/>
              </a:rPr>
              <a:t>A glucose digital twin with visible uncertainty</a:t>
            </a:r>
          </a:p>
        </p:txBody>
      </p:sp>
      <p:sp>
        <p:nvSpPr>
          <p:cNvPr id="3" name="">
            <a:extLst xmlns:a="http://schemas.openxmlformats.org/drawingml/2006/main">
              <a:ext uri="{FF2B5EF4-FFF2-40B4-BE49-F238E27FC236}">
                <a16:creationId xmlns:a16="http://schemas.microsoft.com/office/drawing/2014/main" id="{6F96D3CF-0B51-4457-9673-547F072430C6}"/>
              </a:ext>
            </a:extLst>
          </p:cNvPr>
          <p:cNvSpPr>
            <a:spLocks xmlns:a="http://schemas.openxmlformats.org/drawingml/2006/main" noGrp="1"/>
          </p:cNvSpPr>
          <p:nvPr/>
        </p:nvSpPr>
        <p:spPr>
          <a:xfrm xmlns:a="http://schemas.openxmlformats.org/drawingml/2006/main">
            <a:off x="647700" y="51149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DD2C5"/>
                </a:solidFill>
                <a:latin typeface="Arial"/>
                <a:ea typeface="Arial"/>
                <a:cs typeface="Arial"/>
              </a:defRPr>
            </a:defPPr>
          </a:lstStyle>
          <a:p xmlns:a="http://schemas.openxmlformats.org/drawingml/2006/main">
            <a:pPr>
              <a:defRPr sz="1725" b="0">
                <a:solidFill>
                  <a:srgbClr val="BDD2C5"/>
                </a:solidFill>
                <a:latin typeface="Arial"/>
                <a:ea typeface="Arial"/>
                <a:cs typeface="Arial"/>
              </a:defRPr>
            </a:pPr>
            <a:r>
              <a:rPr sz="1725" b="0">
                <a:solidFill>
                  <a:srgbClr val="BDD2C5"/>
                </a:solidFill>
                <a:latin typeface="Arial"/>
                <a:ea typeface="Arial"/>
                <a:cs typeface="Arial"/>
              </a:rPr>
              <a:t>Sanjay P · Chennai Institute of Technology</a:t>
            </a:r>
          </a:p>
          <a:p xmlns:a="http://schemas.openxmlformats.org/drawingml/2006/main">
            <a:pPr>
              <a:defRPr sz="1725" b="0">
                <a:solidFill>
                  <a:srgbClr val="BDD2C5"/>
                </a:solidFill>
                <a:latin typeface="Arial"/>
                <a:ea typeface="Arial"/>
                <a:cs typeface="Arial"/>
              </a:defRPr>
            </a:pPr>
            <a:r>
              <a:rPr sz="1725" b="0">
                <a:solidFill>
                  <a:srgbClr val="BDD2C5"/>
                </a:solidFill>
                <a:latin typeface="Arial"/>
                <a:ea typeface="Arial"/>
                <a:cs typeface="Arial"/>
              </a:rPr>
              <a:t>AI &amp; Machine Learning · Graduating 2029 · Solo team: sanjaytenn11</a:t>
            </a:r>
          </a:p>
        </p:txBody>
      </p:sp>
    </p:spTree>
    <p:extLst>
      <p:ext uri="{BB962C8B-B14F-4D97-AF65-F5344CB8AC3E}">
        <p14:creationId xmlns:p14="http://schemas.microsoft.com/office/powerpoint/2010/main" val="364556179"/>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844AD6-1419-4353-8149-72D52A7A24A4}"/>
              </a:ext>
            </a:extLst>
          </p:cNvPr>
          <p:cNvSpPr>
            <a:spLocks xmlns:a="http://schemas.openxmlformats.org/drawingml/2006/main" noGrp="1"/>
          </p:cNvSpPr>
          <p:nvPr/>
        </p:nvSpPr>
        <p:spPr>
          <a:xfrm xmlns:a="http://schemas.openxmlformats.org/drawingml/2006/main">
            <a:off x="609600" y="476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62D"/>
                </a:solidFill>
                <a:latin typeface="Arial"/>
                <a:ea typeface="Arial"/>
                <a:cs typeface="Arial"/>
              </a:defRPr>
            </a:defPPr>
          </a:lstStyle>
          <a:p xmlns:a="http://schemas.openxmlformats.org/drawingml/2006/main">
            <a:pPr>
              <a:defRPr sz="3150" b="1">
                <a:solidFill>
                  <a:srgbClr val="17362D"/>
                </a:solidFill>
                <a:latin typeface="Arial"/>
                <a:ea typeface="Arial"/>
                <a:cs typeface="Arial"/>
              </a:defRPr>
            </a:pPr>
            <a:r>
              <a:rPr sz="3150" b="1">
                <a:solidFill>
                  <a:srgbClr val="17362D"/>
                </a:solidFill>
                <a:latin typeface="Arial"/>
                <a:ea typeface="Arial"/>
                <a:cs typeface="Arial"/>
              </a:rPr>
              <a:t>A glucose value needs context</a:t>
            </a:r>
          </a:p>
        </p:txBody>
      </p:sp>
      <p:sp>
        <p:nvSpPr>
          <p:cNvPr id="2" name="">
            <a:extLst xmlns:a="http://schemas.openxmlformats.org/drawingml/2006/main">
              <a:ext uri="{FF2B5EF4-FFF2-40B4-BE49-F238E27FC236}">
                <a16:creationId xmlns:a16="http://schemas.microsoft.com/office/drawing/2014/main" id="{76875D47-9A67-405D-B704-F98E4C401BCE}"/>
              </a:ext>
            </a:extLst>
          </p:cNvPr>
          <p:cNvSpPr>
            <a:spLocks xmlns:a="http://schemas.openxmlformats.org/drawingml/2006/main" noGrp="1"/>
          </p:cNvSpPr>
          <p:nvPr/>
        </p:nvSpPr>
        <p:spPr>
          <a:xfrm xmlns:a="http://schemas.openxmlformats.org/drawingml/2006/main">
            <a:off x="609600" y="63246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A71"/>
                </a:solidFill>
                <a:latin typeface="Arial"/>
                <a:ea typeface="Arial"/>
                <a:cs typeface="Arial"/>
              </a:defRPr>
            </a:defPPr>
          </a:lstStyle>
          <a:p xmlns:a="http://schemas.openxmlformats.org/drawingml/2006/main">
            <a:pPr>
              <a:defRPr sz="900" b="0">
                <a:solidFill>
                  <a:srgbClr val="667A71"/>
                </a:solidFill>
                <a:latin typeface="Arial"/>
                <a:ea typeface="Arial"/>
                <a:cs typeface="Arial"/>
              </a:defRPr>
            </a:pPr>
            <a:r>
              <a:rPr sz="900" b="0">
                <a:solidFill>
                  <a:srgbClr val="667A71"/>
                </a:solidFill>
                <a:latin typeface="Arial"/>
                <a:ea typeface="Arial"/>
                <a:cs typeface="Arial"/>
              </a:rPr>
              <a:t>GLYRA  /  RESEARCH PROTOTYPE</a:t>
            </a:r>
          </a:p>
        </p:txBody>
      </p:sp>
      <p:sp>
        <p:nvSpPr>
          <p:cNvPr id="3" name="">
            <a:extLst xmlns:a="http://schemas.openxmlformats.org/drawingml/2006/main">
              <a:ext uri="{FF2B5EF4-FFF2-40B4-BE49-F238E27FC236}">
                <a16:creationId xmlns:a16="http://schemas.microsoft.com/office/drawing/2014/main" id="{E5562289-2952-4E3F-9C6C-E5F52170C2E0}"/>
              </a:ext>
            </a:extLst>
          </p:cNvPr>
          <p:cNvSpPr>
            <a:spLocks xmlns:a="http://schemas.openxmlformats.org/drawingml/2006/main" noGrp="1"/>
          </p:cNvSpPr>
          <p:nvPr/>
        </p:nvSpPr>
        <p:spPr>
          <a:xfrm xmlns:a="http://schemas.openxmlformats.org/drawingml/2006/main">
            <a:off x="11172825" y="63055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67A71"/>
                </a:solidFill>
                <a:latin typeface="Arial"/>
                <a:ea typeface="Arial"/>
                <a:cs typeface="Arial"/>
              </a:defRPr>
            </a:defPPr>
          </a:lstStyle>
          <a:p xmlns:a="http://schemas.openxmlformats.org/drawingml/2006/main">
            <a:pPr>
              <a:defRPr sz="975" b="0">
                <a:solidFill>
                  <a:srgbClr val="667A71"/>
                </a:solidFill>
                <a:latin typeface="Arial"/>
                <a:ea typeface="Arial"/>
                <a:cs typeface="Arial"/>
              </a:defRPr>
            </a:pPr>
            <a:r>
              <a:rPr sz="975" b="0">
                <a:solidFill>
                  <a:srgbClr val="667A7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EC237769-5B6D-40E8-AD14-14E72C5E3772}"/>
              </a:ext>
            </a:extLst>
          </p:cNvPr>
          <p:cNvSpPr>
            <a:spLocks xmlns:a="http://schemas.openxmlformats.org/drawingml/2006/main" noGrp="1"/>
          </p:cNvSpPr>
          <p:nvPr/>
        </p:nvSpPr>
        <p:spPr>
          <a:xfrm xmlns:a="http://schemas.openxmlformats.org/drawingml/2006/main">
            <a:off x="609600" y="166687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2D"/>
                </a:solidFill>
                <a:latin typeface="Arial"/>
                <a:ea typeface="Arial"/>
                <a:cs typeface="Arial"/>
              </a:defRPr>
            </a:defPPr>
          </a:lstStyle>
          <a:p xmlns:a="http://schemas.openxmlformats.org/drawingml/2006/main">
            <a:pPr>
              <a:defRPr sz="1950" b="1">
                <a:solidFill>
                  <a:srgbClr val="17362D"/>
                </a:solidFill>
                <a:latin typeface="Arial"/>
                <a:ea typeface="Arial"/>
                <a:cs typeface="Arial"/>
              </a:defRPr>
            </a:pPr>
            <a:r>
              <a:rPr sz="1950" b="1">
                <a:solidFill>
                  <a:srgbClr val="17362D"/>
                </a:solidFill>
                <a:latin typeface="Arial"/>
                <a:ea typeface="Arial"/>
                <a:cs typeface="Arial"/>
              </a:rPr>
              <a:t>The review problem</a:t>
            </a:r>
          </a:p>
        </p:txBody>
      </p:sp>
      <p:sp>
        <p:nvSpPr>
          <p:cNvPr id="5" name="">
            <a:extLst xmlns:a="http://schemas.openxmlformats.org/drawingml/2006/main">
              <a:ext uri="{FF2B5EF4-FFF2-40B4-BE49-F238E27FC236}">
                <a16:creationId xmlns:a16="http://schemas.microsoft.com/office/drawing/2014/main" id="{DA5D4EFC-14C5-4164-A921-A010AF483E26}"/>
              </a:ext>
            </a:extLst>
          </p:cNvPr>
          <p:cNvSpPr>
            <a:spLocks xmlns:a="http://schemas.openxmlformats.org/drawingml/2006/main" noGrp="1"/>
          </p:cNvSpPr>
          <p:nvPr/>
        </p:nvSpPr>
        <p:spPr>
          <a:xfrm xmlns:a="http://schemas.openxmlformats.org/drawingml/2006/main">
            <a:off x="609600" y="2219325"/>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A71"/>
                </a:solidFill>
                <a:latin typeface="Arial"/>
                <a:ea typeface="Arial"/>
                <a:cs typeface="Arial"/>
              </a:defRPr>
            </a:defPPr>
          </a:lstStyle>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A current reading shows a moment. A clinician also needs the recent trajectory, patient context and an honest view of uncertainty.</a:t>
            </a:r>
          </a:p>
        </p:txBody>
      </p:sp>
      <p:sp>
        <p:nvSpPr>
          <p:cNvPr id="6" name="">
            <a:extLst xmlns:a="http://schemas.openxmlformats.org/drawingml/2006/main">
              <a:ext uri="{FF2B5EF4-FFF2-40B4-BE49-F238E27FC236}">
                <a16:creationId xmlns:a16="http://schemas.microsoft.com/office/drawing/2014/main" id="{73BE3748-9CB8-45D6-9C80-FB1882A8C8C0}"/>
              </a:ext>
            </a:extLst>
          </p:cNvPr>
          <p:cNvSpPr>
            <a:spLocks xmlns:a="http://schemas.openxmlformats.org/drawingml/2006/main" noGrp="1"/>
          </p:cNvSpPr>
          <p:nvPr/>
        </p:nvSpPr>
        <p:spPr>
          <a:xfrm xmlns:a="http://schemas.openxmlformats.org/drawingml/2006/main">
            <a:off x="6496050" y="166687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2D"/>
                </a:solidFill>
                <a:latin typeface="Arial"/>
                <a:ea typeface="Arial"/>
                <a:cs typeface="Arial"/>
              </a:defRPr>
            </a:defPPr>
          </a:lstStyle>
          <a:p xmlns:a="http://schemas.openxmlformats.org/drawingml/2006/main">
            <a:pPr>
              <a:defRPr sz="1950" b="1">
                <a:solidFill>
                  <a:srgbClr val="17362D"/>
                </a:solidFill>
                <a:latin typeface="Arial"/>
                <a:ea typeface="Arial"/>
                <a:cs typeface="Arial"/>
              </a:defRPr>
            </a:pPr>
            <a:r>
              <a:rPr sz="1950" b="1">
                <a:solidFill>
                  <a:srgbClr val="17362D"/>
                </a:solidFill>
                <a:latin typeface="Arial"/>
                <a:ea typeface="Arial"/>
                <a:cs typeface="Arial"/>
              </a:rPr>
              <a:t>A focused use case</a:t>
            </a:r>
          </a:p>
        </p:txBody>
      </p:sp>
      <p:sp>
        <p:nvSpPr>
          <p:cNvPr id="7" name="">
            <a:extLst xmlns:a="http://schemas.openxmlformats.org/drawingml/2006/main">
              <a:ext uri="{FF2B5EF4-FFF2-40B4-BE49-F238E27FC236}">
                <a16:creationId xmlns:a16="http://schemas.microsoft.com/office/drawing/2014/main" id="{9FCB6F9C-713E-4F47-8269-05C681026177}"/>
              </a:ext>
            </a:extLst>
          </p:cNvPr>
          <p:cNvSpPr>
            <a:spLocks xmlns:a="http://schemas.openxmlformats.org/drawingml/2006/main" noGrp="1"/>
          </p:cNvSpPr>
          <p:nvPr/>
        </p:nvSpPr>
        <p:spPr>
          <a:xfrm xmlns:a="http://schemas.openxmlformats.org/drawingml/2006/main">
            <a:off x="6496050" y="2219325"/>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A71"/>
                </a:solidFill>
                <a:latin typeface="Arial"/>
                <a:ea typeface="Arial"/>
                <a:cs typeface="Arial"/>
              </a:defRPr>
            </a:defPPr>
          </a:lstStyle>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Explore 30–120 minute glucose forecasts for a simulated person with type 2 diabetes. Review a potential excursion before the next reading arrives.</a:t>
            </a:r>
          </a:p>
        </p:txBody>
      </p:sp>
      <p:sp>
        <p:nvSpPr>
          <p:cNvPr id="8" name="">
            <a:extLst xmlns:a="http://schemas.openxmlformats.org/drawingml/2006/main">
              <a:ext uri="{FF2B5EF4-FFF2-40B4-BE49-F238E27FC236}">
                <a16:creationId xmlns:a16="http://schemas.microsoft.com/office/drawing/2014/main" id="{C3B55FFC-20C1-43EF-90E6-B1E388DB2A41}"/>
              </a:ext>
            </a:extLst>
          </p:cNvPr>
          <p:cNvSpPr>
            <a:spLocks xmlns:a="http://schemas.openxmlformats.org/drawingml/2006/main" noGrp="1"/>
          </p:cNvSpPr>
          <p:nvPr/>
        </p:nvSpPr>
        <p:spPr>
          <a:xfrm xmlns:a="http://schemas.openxmlformats.org/drawingml/2006/main">
            <a:off x="609600" y="48577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735B"/>
                </a:solidFill>
                <a:latin typeface="Arial"/>
                <a:ea typeface="Arial"/>
                <a:cs typeface="Arial"/>
              </a:defRPr>
            </a:defPPr>
          </a:lstStyle>
          <a:p xmlns:a="http://schemas.openxmlformats.org/drawingml/2006/main">
            <a:pPr>
              <a:defRPr sz="1950" b="0">
                <a:solidFill>
                  <a:srgbClr val="14735B"/>
                </a:solidFill>
                <a:latin typeface="Arial"/>
                <a:ea typeface="Arial"/>
                <a:cs typeface="Arial"/>
              </a:defRPr>
            </a:pPr>
            <a:r>
              <a:rPr sz="1950" b="0">
                <a:solidFill>
                  <a:srgbClr val="14735B"/>
                </a:solidFill>
                <a:latin typeface="Arial"/>
                <a:ea typeface="Arial"/>
                <a:cs typeface="Arial"/>
              </a:rPr>
              <a:t>Research basis: A1C averages can conceal short glucose excursions. Long-horizon prediction remains difficult.</a:t>
            </a:r>
          </a:p>
        </p:txBody>
      </p:sp>
    </p:spTree>
    <p:extLst>
      <p:ext uri="{BB962C8B-B14F-4D97-AF65-F5344CB8AC3E}">
        <p14:creationId xmlns:p14="http://schemas.microsoft.com/office/powerpoint/2010/main" val="28718578"/>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B02B44-DBDD-4F21-ADB6-A6E2F28C9730}"/>
              </a:ext>
            </a:extLst>
          </p:cNvPr>
          <p:cNvSpPr>
            <a:spLocks xmlns:a="http://schemas.openxmlformats.org/drawingml/2006/main" noGrp="1"/>
          </p:cNvSpPr>
          <p:nvPr/>
        </p:nvSpPr>
        <p:spPr>
          <a:xfrm xmlns:a="http://schemas.openxmlformats.org/drawingml/2006/main">
            <a:off x="609600" y="476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62D"/>
                </a:solidFill>
                <a:latin typeface="Arial"/>
                <a:ea typeface="Arial"/>
                <a:cs typeface="Arial"/>
              </a:defRPr>
            </a:defPPr>
          </a:lstStyle>
          <a:p xmlns:a="http://schemas.openxmlformats.org/drawingml/2006/main">
            <a:pPr>
              <a:defRPr sz="3150" b="1">
                <a:solidFill>
                  <a:srgbClr val="17362D"/>
                </a:solidFill>
                <a:latin typeface="Arial"/>
                <a:ea typeface="Arial"/>
                <a:cs typeface="Arial"/>
              </a:defRPr>
            </a:pPr>
            <a:r>
              <a:rPr sz="3150" b="1">
                <a:solidFill>
                  <a:srgbClr val="17362D"/>
                </a:solidFill>
                <a:latin typeface="Arial"/>
                <a:ea typeface="Arial"/>
                <a:cs typeface="Arial"/>
              </a:rPr>
              <a:t>A working review dashboard</a:t>
            </a:r>
          </a:p>
        </p:txBody>
      </p:sp>
      <p:sp>
        <p:nvSpPr>
          <p:cNvPr id="2" name="">
            <a:extLst xmlns:a="http://schemas.openxmlformats.org/drawingml/2006/main">
              <a:ext uri="{FF2B5EF4-FFF2-40B4-BE49-F238E27FC236}">
                <a16:creationId xmlns:a16="http://schemas.microsoft.com/office/drawing/2014/main" id="{3E81F672-D8D9-448D-99ED-126C6E9D5817}"/>
              </a:ext>
            </a:extLst>
          </p:cNvPr>
          <p:cNvSpPr>
            <a:spLocks xmlns:a="http://schemas.openxmlformats.org/drawingml/2006/main" noGrp="1"/>
          </p:cNvSpPr>
          <p:nvPr/>
        </p:nvSpPr>
        <p:spPr>
          <a:xfrm xmlns:a="http://schemas.openxmlformats.org/drawingml/2006/main">
            <a:off x="609600" y="63246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A71"/>
                </a:solidFill>
                <a:latin typeface="Arial"/>
                <a:ea typeface="Arial"/>
                <a:cs typeface="Arial"/>
              </a:defRPr>
            </a:defPPr>
          </a:lstStyle>
          <a:p xmlns:a="http://schemas.openxmlformats.org/drawingml/2006/main">
            <a:pPr>
              <a:defRPr sz="900" b="0">
                <a:solidFill>
                  <a:srgbClr val="667A71"/>
                </a:solidFill>
                <a:latin typeface="Arial"/>
                <a:ea typeface="Arial"/>
                <a:cs typeface="Arial"/>
              </a:defRPr>
            </a:pPr>
            <a:r>
              <a:rPr sz="900" b="0">
                <a:solidFill>
                  <a:srgbClr val="667A71"/>
                </a:solidFill>
                <a:latin typeface="Arial"/>
                <a:ea typeface="Arial"/>
                <a:cs typeface="Arial"/>
              </a:rPr>
              <a:t>GLYRA  /  RESEARCH PROTOTYPE</a:t>
            </a:r>
          </a:p>
        </p:txBody>
      </p:sp>
      <p:sp>
        <p:nvSpPr>
          <p:cNvPr id="3" name="">
            <a:extLst xmlns:a="http://schemas.openxmlformats.org/drawingml/2006/main">
              <a:ext uri="{FF2B5EF4-FFF2-40B4-BE49-F238E27FC236}">
                <a16:creationId xmlns:a16="http://schemas.microsoft.com/office/drawing/2014/main" id="{5A72066A-FF46-4196-9AEB-97BEBBAFCAEB}"/>
              </a:ext>
            </a:extLst>
          </p:cNvPr>
          <p:cNvSpPr>
            <a:spLocks xmlns:a="http://schemas.openxmlformats.org/drawingml/2006/main" noGrp="1"/>
          </p:cNvSpPr>
          <p:nvPr/>
        </p:nvSpPr>
        <p:spPr>
          <a:xfrm xmlns:a="http://schemas.openxmlformats.org/drawingml/2006/main">
            <a:off x="11172825" y="63055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67A71"/>
                </a:solidFill>
                <a:latin typeface="Arial"/>
                <a:ea typeface="Arial"/>
                <a:cs typeface="Arial"/>
              </a:defRPr>
            </a:defPPr>
          </a:lstStyle>
          <a:p xmlns:a="http://schemas.openxmlformats.org/drawingml/2006/main">
            <a:pPr>
              <a:defRPr sz="975" b="0">
                <a:solidFill>
                  <a:srgbClr val="667A71"/>
                </a:solidFill>
                <a:latin typeface="Arial"/>
                <a:ea typeface="Arial"/>
                <a:cs typeface="Arial"/>
              </a:defRPr>
            </a:pPr>
            <a:r>
              <a:rPr sz="975" b="0">
                <a:solidFill>
                  <a:srgbClr val="667A71"/>
                </a:solidFill>
                <a:latin typeface="Arial"/>
                <a:ea typeface="Arial"/>
                <a:cs typeface="Arial"/>
              </a:rPr>
              <a:t>03</a:t>
            </a:r>
          </a:p>
        </p:txBody>
      </p:sp>
      <p:pic>
        <p:nvPicPr>
          <p:cNvPr id="4" name="">
            <a:extLst xmlns:a="http://schemas.openxmlformats.org/drawingml/2006/main">
              <a:ext uri="{FF2B5EF4-FFF2-40B4-BE49-F238E27FC236}">
                <a16:creationId xmlns:a16="http://schemas.microsoft.com/office/drawing/2014/main" id="{49F11AF2-C4B7-4549-94EF-7A39AEA5AF57}"/>
              </a:ext>
            </a:extLst>
          </p:cNvPr>
          <p:cNvPicPr>
            <a:picLocks xmlns:a="http://schemas.openxmlformats.org/drawingml/2006/main" noChangeAspect="1"/>
          </p:cNvPicPr>
          <p:nvPr/>
        </p:nvPicPr>
        <p:blipFill>
          <a:blip xmlns:r="http://schemas.openxmlformats.org/officeDocument/2006/relationships" xmlns:a="http://schemas.openxmlformats.org/drawingml/2006/main" r:embed="R390ffa0b62264d34"/>
          <a:stretch xmlns:a="http://schemas.openxmlformats.org/drawingml/2006/main"/>
        </p:blipFill>
        <p:spPr>
          <a:xfrm xmlns:a="http://schemas.openxmlformats.org/drawingml/2006/main">
            <a:off x="1075905" y="1476375"/>
            <a:ext cx="10040190" cy="4238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654EE53-CAE1-4F20-9F92-31D5034F47C0}"/>
              </a:ext>
            </a:extLst>
          </p:cNvPr>
          <p:cNvSpPr>
            <a:spLocks xmlns:a="http://schemas.openxmlformats.org/drawingml/2006/main" noGrp="1"/>
          </p:cNvSpPr>
          <p:nvPr/>
        </p:nvSpPr>
        <p:spPr>
          <a:xfrm xmlns:a="http://schemas.openxmlformats.org/drawingml/2006/main">
            <a:off x="609600" y="5810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A71"/>
                </a:solidFill>
                <a:latin typeface="Arial"/>
                <a:ea typeface="Arial"/>
                <a:cs typeface="Arial"/>
              </a:defRPr>
            </a:defPPr>
          </a:lstStyle>
          <a:p xmlns:a="http://schemas.openxmlformats.org/drawingml/2006/main">
            <a:pPr>
              <a:defRPr sz="1725" b="0">
                <a:solidFill>
                  <a:srgbClr val="667A71"/>
                </a:solidFill>
                <a:latin typeface="Arial"/>
                <a:ea typeface="Arial"/>
                <a:cs typeface="Arial"/>
              </a:defRPr>
            </a:pPr>
            <a:r>
              <a:rPr sz="1725" b="0">
                <a:solidFill>
                  <a:srgbClr val="667A71"/>
                </a:solidFill>
                <a:latin typeface="Arial"/>
                <a:ea typeface="Arial"/>
                <a:cs typeface="Arial"/>
              </a:rPr>
              <a:t>Synchronized history, learned forecasts, calibrated intervals and patient context</a:t>
            </a:r>
          </a:p>
        </p:txBody>
      </p:sp>
    </p:spTree>
    <p:extLst>
      <p:ext uri="{BB962C8B-B14F-4D97-AF65-F5344CB8AC3E}">
        <p14:creationId xmlns:p14="http://schemas.microsoft.com/office/powerpoint/2010/main" val="1103996074"/>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9212E773-3C07-491D-A698-5A7078CCD31C}"/>
              </a:ext>
            </a:extLst>
          </p:cNvPr>
          <p:cNvCxnSpPr>
            <a:stCxn xmlns:a="http://schemas.openxmlformats.org/drawingml/2006/main" id="13" idx="2"/>
            <a:endCxn xmlns:a="http://schemas.openxmlformats.org/drawingml/2006/main" id="16" idx="0"/>
          </p:cNvCxnSpPr>
          <p:nvPr/>
        </p:nvCxnSpPr>
        <p:spPr>
          <a:xfrm xmlns:a="http://schemas.openxmlformats.org/drawingml/2006/main">
            <a:off x="10020300" y="2647950"/>
            <a:ext cx="0" cy="704850"/>
          </a:xfrm>
          <a:prstGeom xmlns:a="http://schemas.openxmlformats.org/drawingml/2006/main" prst="straightConnector1">
            <a:avLst/>
          </a:prstGeom>
          <a:ln xmlns:a="http://schemas.openxmlformats.org/drawingml/2006/main" w="19050">
            <a:solidFill>
              <a:srgbClr val="739984"/>
            </a:solidFill>
            <a:tailEnd type="arrow" w="med" len="med"/>
          </a:ln>
        </p:spPr>
      </p:cxnSp>
      <p:cxnSp>
        <p:nvCxnSpPr>
          <p:cNvPr id="21" name="">
            <a:extLst xmlns:a="http://schemas.openxmlformats.org/drawingml/2006/main">
              <a:ext uri="{FF2B5EF4-FFF2-40B4-BE49-F238E27FC236}">
                <a16:creationId xmlns:a16="http://schemas.microsoft.com/office/drawing/2014/main" id="{A434D4D6-FEF8-46AB-B374-659E591D972D}"/>
              </a:ext>
            </a:extLst>
          </p:cNvPr>
          <p:cNvCxnSpPr>
            <a:stCxn xmlns:a="http://schemas.openxmlformats.org/drawingml/2006/main" id="10" idx="3"/>
            <a:endCxn xmlns:a="http://schemas.openxmlformats.org/drawingml/2006/main" id="13" idx="1"/>
          </p:cNvCxnSpPr>
          <p:nvPr/>
        </p:nvCxnSpPr>
        <p:spPr>
          <a:xfrm xmlns:a="http://schemas.openxmlformats.org/drawingml/2006/main" flipV="1">
            <a:off x="7362825" y="2124075"/>
            <a:ext cx="1228725" cy="876300"/>
          </a:xfrm>
          <a:prstGeom xmlns:a="http://schemas.openxmlformats.org/drawingml/2006/main" prst="bentConnector3">
            <a:avLst>
              <a:gd name="adj1" fmla="val 50000"/>
            </a:avLst>
          </a:prstGeom>
          <a:ln xmlns:a="http://schemas.openxmlformats.org/drawingml/2006/main" w="19050">
            <a:solidFill>
              <a:srgbClr val="739984"/>
            </a:solidFill>
            <a:tailEnd type="arrow" w="med" len="med"/>
          </a:ln>
        </p:spPr>
      </p:cxnSp>
      <p:cxnSp>
        <p:nvCxnSpPr>
          <p:cNvPr id="20" name="">
            <a:extLst xmlns:a="http://schemas.openxmlformats.org/drawingml/2006/main">
              <a:ext uri="{FF2B5EF4-FFF2-40B4-BE49-F238E27FC236}">
                <a16:creationId xmlns:a16="http://schemas.microsoft.com/office/drawing/2014/main" id="{3023310A-7945-4154-BA8D-13B58CC0B667}"/>
              </a:ext>
            </a:extLst>
          </p:cNvPr>
          <p:cNvCxnSpPr>
            <a:stCxn xmlns:a="http://schemas.openxmlformats.org/drawingml/2006/main" id="7" idx="3"/>
            <a:endCxn xmlns:a="http://schemas.openxmlformats.org/drawingml/2006/main" id="10" idx="1"/>
          </p:cNvCxnSpPr>
          <p:nvPr/>
        </p:nvCxnSpPr>
        <p:spPr>
          <a:xfrm xmlns:a="http://schemas.openxmlformats.org/drawingml/2006/main" flipV="1">
            <a:off x="3467100" y="3000375"/>
            <a:ext cx="1181100" cy="876300"/>
          </a:xfrm>
          <a:prstGeom xmlns:a="http://schemas.openxmlformats.org/drawingml/2006/main" prst="bentConnector3">
            <a:avLst>
              <a:gd name="adj1" fmla="val 50000"/>
            </a:avLst>
          </a:prstGeom>
          <a:ln xmlns:a="http://schemas.openxmlformats.org/drawingml/2006/main" w="19050">
            <a:solidFill>
              <a:srgbClr val="739984"/>
            </a:solidFill>
            <a:tailEnd type="arrow" w="med" len="med"/>
          </a:ln>
        </p:spPr>
      </p:cxnSp>
      <p:cxnSp>
        <p:nvCxnSpPr>
          <p:cNvPr id="19" name="">
            <a:extLst xmlns:a="http://schemas.openxmlformats.org/drawingml/2006/main">
              <a:ext uri="{FF2B5EF4-FFF2-40B4-BE49-F238E27FC236}">
                <a16:creationId xmlns:a16="http://schemas.microsoft.com/office/drawing/2014/main" id="{DD3DE0D2-8D34-4A8B-8E36-C7F6669DE2C0}"/>
              </a:ext>
            </a:extLst>
          </p:cNvPr>
          <p:cNvCxnSpPr>
            <a:stCxn xmlns:a="http://schemas.openxmlformats.org/drawingml/2006/main" id="4" idx="3"/>
            <a:endCxn xmlns:a="http://schemas.openxmlformats.org/drawingml/2006/main" id="10" idx="1"/>
          </p:cNvCxnSpPr>
          <p:nvPr/>
        </p:nvCxnSpPr>
        <p:spPr>
          <a:xfrm xmlns:a="http://schemas.openxmlformats.org/drawingml/2006/main">
            <a:off x="3467100" y="2124075"/>
            <a:ext cx="1181100" cy="876300"/>
          </a:xfrm>
          <a:prstGeom xmlns:a="http://schemas.openxmlformats.org/drawingml/2006/main" prst="bentConnector3">
            <a:avLst>
              <a:gd name="adj1" fmla="val 50000"/>
            </a:avLst>
          </a:prstGeom>
          <a:ln xmlns:a="http://schemas.openxmlformats.org/drawingml/2006/main" w="19050">
            <a:solidFill>
              <a:srgbClr val="739984"/>
            </a:solidFill>
            <a:tailEnd type="arrow" w="med" len="med"/>
          </a:ln>
        </p:spPr>
      </p:cxnSp>
      <p:sp>
        <p:nvSpPr>
          <p:cNvPr id="25" name="">
            <a:extLst xmlns:a="http://schemas.openxmlformats.org/drawingml/2006/main">
              <a:ext uri="{FF2B5EF4-FFF2-40B4-BE49-F238E27FC236}">
                <a16:creationId xmlns:a16="http://schemas.microsoft.com/office/drawing/2014/main" id="{A6B5CC0A-E5B5-46A1-9601-6F811D416591}"/>
              </a:ext>
            </a:extLst>
          </p:cNvPr>
          <p:cNvSpPr>
            <a:spLocks xmlns:a="http://schemas.openxmlformats.org/drawingml/2006/main" noGrp="1"/>
          </p:cNvSpPr>
          <p:nvPr/>
        </p:nvSpPr>
        <p:spPr>
          <a:xfrm xmlns:a="http://schemas.openxmlformats.org/drawingml/2006/main">
            <a:off x="609600" y="476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62D"/>
                </a:solidFill>
                <a:latin typeface="Arial"/>
                <a:ea typeface="Arial"/>
                <a:cs typeface="Arial"/>
              </a:defRPr>
            </a:defPPr>
          </a:lstStyle>
          <a:p xmlns:a="http://schemas.openxmlformats.org/drawingml/2006/main">
            <a:pPr>
              <a:defRPr sz="3150" b="1">
                <a:solidFill>
                  <a:srgbClr val="17362D"/>
                </a:solidFill>
                <a:latin typeface="Arial"/>
                <a:ea typeface="Arial"/>
                <a:cs typeface="Arial"/>
              </a:defRPr>
            </a:pPr>
            <a:r>
              <a:rPr sz="3150" b="1">
                <a:solidFill>
                  <a:srgbClr val="17362D"/>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0C4EDD69-3706-4A2D-B486-1D08C5C9C14A}"/>
              </a:ext>
            </a:extLst>
          </p:cNvPr>
          <p:cNvSpPr>
            <a:spLocks xmlns:a="http://schemas.openxmlformats.org/drawingml/2006/main" noGrp="1"/>
          </p:cNvSpPr>
          <p:nvPr/>
        </p:nvSpPr>
        <p:spPr>
          <a:xfrm xmlns:a="http://schemas.openxmlformats.org/drawingml/2006/main">
            <a:off x="609600" y="63246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A71"/>
                </a:solidFill>
                <a:latin typeface="Arial"/>
                <a:ea typeface="Arial"/>
                <a:cs typeface="Arial"/>
              </a:defRPr>
            </a:defPPr>
          </a:lstStyle>
          <a:p xmlns:a="http://schemas.openxmlformats.org/drawingml/2006/main">
            <a:pPr>
              <a:defRPr sz="900" b="0">
                <a:solidFill>
                  <a:srgbClr val="667A71"/>
                </a:solidFill>
                <a:latin typeface="Arial"/>
                <a:ea typeface="Arial"/>
                <a:cs typeface="Arial"/>
              </a:defRPr>
            </a:pPr>
            <a:r>
              <a:rPr sz="900" b="0">
                <a:solidFill>
                  <a:srgbClr val="667A71"/>
                </a:solidFill>
                <a:latin typeface="Arial"/>
                <a:ea typeface="Arial"/>
                <a:cs typeface="Arial"/>
              </a:rPr>
              <a:t>GLYRA  /  RESEARCH PROTOTYPE</a:t>
            </a:r>
          </a:p>
        </p:txBody>
      </p:sp>
      <p:sp>
        <p:nvSpPr>
          <p:cNvPr id="3" name="">
            <a:extLst xmlns:a="http://schemas.openxmlformats.org/drawingml/2006/main">
              <a:ext uri="{FF2B5EF4-FFF2-40B4-BE49-F238E27FC236}">
                <a16:creationId xmlns:a16="http://schemas.microsoft.com/office/drawing/2014/main" id="{5313F65E-4C1C-4D89-A325-0F05C23932FB}"/>
              </a:ext>
            </a:extLst>
          </p:cNvPr>
          <p:cNvSpPr>
            <a:spLocks xmlns:a="http://schemas.openxmlformats.org/drawingml/2006/main" noGrp="1"/>
          </p:cNvSpPr>
          <p:nvPr/>
        </p:nvSpPr>
        <p:spPr>
          <a:xfrm xmlns:a="http://schemas.openxmlformats.org/drawingml/2006/main">
            <a:off x="11172825" y="63055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67A71"/>
                </a:solidFill>
                <a:latin typeface="Arial"/>
                <a:ea typeface="Arial"/>
                <a:cs typeface="Arial"/>
              </a:defRPr>
            </a:defPPr>
          </a:lstStyle>
          <a:p xmlns:a="http://schemas.openxmlformats.org/drawingml/2006/main">
            <a:pPr>
              <a:defRPr sz="975" b="0">
                <a:solidFill>
                  <a:srgbClr val="667A71"/>
                </a:solidFill>
                <a:latin typeface="Arial"/>
                <a:ea typeface="Arial"/>
                <a:cs typeface="Arial"/>
              </a:defRPr>
            </a:pPr>
            <a:r>
              <a:rPr sz="975" b="0">
                <a:solidFill>
                  <a:srgbClr val="667A71"/>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3378E9BA-B25B-4AF2-8F64-B2523DB3673F}"/>
              </a:ext>
            </a:extLst>
          </p:cNvPr>
          <p:cNvSpPr>
            <a:spLocks xmlns:a="http://schemas.openxmlformats.org/drawingml/2006/main" noGrp="1"/>
          </p:cNvSpPr>
          <p:nvPr/>
        </p:nvSpPr>
        <p:spPr>
          <a:xfrm xmlns:a="http://schemas.openxmlformats.org/drawingml/2006/main">
            <a:off x="609600" y="1600200"/>
            <a:ext cx="2857500" cy="1047750"/>
          </a:xfrm>
          <a:prstGeom xmlns:a="http://schemas.openxmlformats.org/drawingml/2006/main" prst="rect">
            <a:avLst/>
          </a:prstGeom>
          <a:solidFill xmlns:a="http://schemas.openxmlformats.org/drawingml/2006/main">
            <a:srgbClr val="E7EFE9"/>
          </a:solidFill>
          <a:ln xmlns:a="http://schemas.openxmlformats.org/drawingml/2006/main" w="9525">
            <a:solidFill>
              <a:srgbClr val="A6BFB0"/>
            </a:solidFill>
          </a:ln>
        </p:spPr>
      </p:sp>
      <p:sp>
        <p:nvSpPr>
          <p:cNvPr id="5" name="">
            <a:extLst xmlns:a="http://schemas.openxmlformats.org/drawingml/2006/main">
              <a:ext uri="{FF2B5EF4-FFF2-40B4-BE49-F238E27FC236}">
                <a16:creationId xmlns:a16="http://schemas.microsoft.com/office/drawing/2014/main" id="{EEC6FEAD-3D0F-4DD7-81D8-697F7F824942}"/>
              </a:ext>
            </a:extLst>
          </p:cNvPr>
          <p:cNvSpPr>
            <a:spLocks xmlns:a="http://schemas.openxmlformats.org/drawingml/2006/main" noGrp="1"/>
          </p:cNvSpPr>
          <p:nvPr/>
        </p:nvSpPr>
        <p:spPr>
          <a:xfrm xmlns:a="http://schemas.openxmlformats.org/drawingml/2006/main">
            <a:off x="781050" y="1762125"/>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362D"/>
                </a:solidFill>
                <a:latin typeface="Arial"/>
                <a:ea typeface="Arial"/>
                <a:cs typeface="Arial"/>
              </a:defRPr>
            </a:defPPr>
          </a:lstStyle>
          <a:p xmlns:a="http://schemas.openxmlformats.org/drawingml/2006/main">
            <a:pPr>
              <a:defRPr sz="1725" b="1">
                <a:solidFill>
                  <a:srgbClr val="17362D"/>
                </a:solidFill>
                <a:latin typeface="Arial"/>
                <a:ea typeface="Arial"/>
                <a:cs typeface="Arial"/>
              </a:defRPr>
            </a:pPr>
            <a:r>
              <a:rPr sz="1725" b="1">
                <a:solidFill>
                  <a:srgbClr val="17362D"/>
                </a:solidFill>
                <a:latin typeface="Arial"/>
                <a:ea typeface="Arial"/>
                <a:cs typeface="Arial"/>
              </a:rPr>
              <a:t>Synthetic EHR</a:t>
            </a:r>
          </a:p>
        </p:txBody>
      </p:sp>
      <p:sp>
        <p:nvSpPr>
          <p:cNvPr id="6" name="">
            <a:extLst xmlns:a="http://schemas.openxmlformats.org/drawingml/2006/main">
              <a:ext uri="{FF2B5EF4-FFF2-40B4-BE49-F238E27FC236}">
                <a16:creationId xmlns:a16="http://schemas.microsoft.com/office/drawing/2014/main" id="{AFF21BD2-8F56-4CA3-B198-F332E06E426E}"/>
              </a:ext>
            </a:extLst>
          </p:cNvPr>
          <p:cNvSpPr>
            <a:spLocks xmlns:a="http://schemas.openxmlformats.org/drawingml/2006/main" noGrp="1"/>
          </p:cNvSpPr>
          <p:nvPr/>
        </p:nvSpPr>
        <p:spPr>
          <a:xfrm xmlns:a="http://schemas.openxmlformats.org/drawingml/2006/main">
            <a:off x="781050" y="2124075"/>
            <a:ext cx="251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67A71"/>
                </a:solidFill>
                <a:latin typeface="Arial"/>
                <a:ea typeface="Arial"/>
                <a:cs typeface="Arial"/>
              </a:defRPr>
            </a:defPPr>
          </a:lstStyle>
          <a:p xmlns:a="http://schemas.openxmlformats.org/drawingml/2006/main">
            <a:pPr>
              <a:defRPr sz="1275" b="0">
                <a:solidFill>
                  <a:srgbClr val="667A71"/>
                </a:solidFill>
                <a:latin typeface="Arial"/>
                <a:ea typeface="Arial"/>
                <a:cs typeface="Arial"/>
              </a:defRPr>
            </a:pPr>
            <a:r>
              <a:rPr sz="1275" b="0">
                <a:solidFill>
                  <a:srgbClr val="667A71"/>
                </a:solidFill>
                <a:latin typeface="Arial"/>
                <a:ea typeface="Arial"/>
                <a:cs typeface="Arial"/>
              </a:rPr>
              <a:t>Fasting baseline, HbA1c, age, sleep, activity</a:t>
            </a:r>
          </a:p>
        </p:txBody>
      </p:sp>
      <p:sp>
        <p:nvSpPr>
          <p:cNvPr id="7" name="">
            <a:extLst xmlns:a="http://schemas.openxmlformats.org/drawingml/2006/main">
              <a:ext uri="{FF2B5EF4-FFF2-40B4-BE49-F238E27FC236}">
                <a16:creationId xmlns:a16="http://schemas.microsoft.com/office/drawing/2014/main" id="{E92F8589-3512-4FDB-8349-FFFBC2BC3540}"/>
              </a:ext>
            </a:extLst>
          </p:cNvPr>
          <p:cNvSpPr>
            <a:spLocks xmlns:a="http://schemas.openxmlformats.org/drawingml/2006/main" noGrp="1"/>
          </p:cNvSpPr>
          <p:nvPr/>
        </p:nvSpPr>
        <p:spPr>
          <a:xfrm xmlns:a="http://schemas.openxmlformats.org/drawingml/2006/main">
            <a:off x="609600" y="3352800"/>
            <a:ext cx="2857500" cy="1047750"/>
          </a:xfrm>
          <a:prstGeom xmlns:a="http://schemas.openxmlformats.org/drawingml/2006/main" prst="rect">
            <a:avLst/>
          </a:prstGeom>
          <a:solidFill xmlns:a="http://schemas.openxmlformats.org/drawingml/2006/main">
            <a:srgbClr val="E7EFE9"/>
          </a:solidFill>
          <a:ln xmlns:a="http://schemas.openxmlformats.org/drawingml/2006/main" w="9525">
            <a:solidFill>
              <a:srgbClr val="A6BFB0"/>
            </a:solidFill>
          </a:ln>
        </p:spPr>
      </p:sp>
      <p:sp>
        <p:nvSpPr>
          <p:cNvPr id="8" name="">
            <a:extLst xmlns:a="http://schemas.openxmlformats.org/drawingml/2006/main">
              <a:ext uri="{FF2B5EF4-FFF2-40B4-BE49-F238E27FC236}">
                <a16:creationId xmlns:a16="http://schemas.microsoft.com/office/drawing/2014/main" id="{9CB7F33B-0708-471C-AEF3-1CEFBCA77612}"/>
              </a:ext>
            </a:extLst>
          </p:cNvPr>
          <p:cNvSpPr>
            <a:spLocks xmlns:a="http://schemas.openxmlformats.org/drawingml/2006/main" noGrp="1"/>
          </p:cNvSpPr>
          <p:nvPr/>
        </p:nvSpPr>
        <p:spPr>
          <a:xfrm xmlns:a="http://schemas.openxmlformats.org/drawingml/2006/main">
            <a:off x="781050" y="3514725"/>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362D"/>
                </a:solidFill>
                <a:latin typeface="Arial"/>
                <a:ea typeface="Arial"/>
                <a:cs typeface="Arial"/>
              </a:defRPr>
            </a:defPPr>
          </a:lstStyle>
          <a:p xmlns:a="http://schemas.openxmlformats.org/drawingml/2006/main">
            <a:pPr>
              <a:defRPr sz="1725" b="1">
                <a:solidFill>
                  <a:srgbClr val="17362D"/>
                </a:solidFill>
                <a:latin typeface="Arial"/>
                <a:ea typeface="Arial"/>
                <a:cs typeface="Arial"/>
              </a:defRPr>
            </a:pPr>
            <a:r>
              <a:rPr sz="1725" b="1">
                <a:solidFill>
                  <a:srgbClr val="17362D"/>
                </a:solidFill>
                <a:latin typeface="Arial"/>
                <a:ea typeface="Arial"/>
                <a:cs typeface="Arial"/>
              </a:rPr>
              <a:t>CGM &amp; logged meals</a:t>
            </a:r>
          </a:p>
        </p:txBody>
      </p:sp>
      <p:sp>
        <p:nvSpPr>
          <p:cNvPr id="9" name="">
            <a:extLst xmlns:a="http://schemas.openxmlformats.org/drawingml/2006/main">
              <a:ext uri="{FF2B5EF4-FFF2-40B4-BE49-F238E27FC236}">
                <a16:creationId xmlns:a16="http://schemas.microsoft.com/office/drawing/2014/main" id="{F1081CE2-1F52-4A8B-A30D-3E97E09C641F}"/>
              </a:ext>
            </a:extLst>
          </p:cNvPr>
          <p:cNvSpPr>
            <a:spLocks xmlns:a="http://schemas.openxmlformats.org/drawingml/2006/main" noGrp="1"/>
          </p:cNvSpPr>
          <p:nvPr/>
        </p:nvSpPr>
        <p:spPr>
          <a:xfrm xmlns:a="http://schemas.openxmlformats.org/drawingml/2006/main">
            <a:off x="781050" y="3876675"/>
            <a:ext cx="251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67A71"/>
                </a:solidFill>
                <a:latin typeface="Arial"/>
                <a:ea typeface="Arial"/>
                <a:cs typeface="Arial"/>
              </a:defRPr>
            </a:defPPr>
          </a:lstStyle>
          <a:p xmlns:a="http://schemas.openxmlformats.org/drawingml/2006/main">
            <a:pPr>
              <a:defRPr sz="1275" b="0">
                <a:solidFill>
                  <a:srgbClr val="667A71"/>
                </a:solidFill>
                <a:latin typeface="Arial"/>
                <a:ea typeface="Arial"/>
                <a:cs typeface="Arial"/>
              </a:defRPr>
            </a:pPr>
            <a:r>
              <a:rPr sz="1275" b="0">
                <a:solidFill>
                  <a:srgbClr val="667A71"/>
                </a:solidFill>
                <a:latin typeface="Arial"/>
                <a:ea typeface="Arial"/>
                <a:cs typeface="Arial"/>
              </a:rPr>
              <a:t>Five-minute history; no future events</a:t>
            </a:r>
          </a:p>
        </p:txBody>
      </p:sp>
      <p:sp>
        <p:nvSpPr>
          <p:cNvPr id="10" name="">
            <a:extLst xmlns:a="http://schemas.openxmlformats.org/drawingml/2006/main">
              <a:ext uri="{FF2B5EF4-FFF2-40B4-BE49-F238E27FC236}">
                <a16:creationId xmlns:a16="http://schemas.microsoft.com/office/drawing/2014/main" id="{36823B84-A207-4298-9F14-A43EE3B07D84}"/>
              </a:ext>
            </a:extLst>
          </p:cNvPr>
          <p:cNvSpPr>
            <a:spLocks xmlns:a="http://schemas.openxmlformats.org/drawingml/2006/main" noGrp="1"/>
          </p:cNvSpPr>
          <p:nvPr/>
        </p:nvSpPr>
        <p:spPr>
          <a:xfrm xmlns:a="http://schemas.openxmlformats.org/drawingml/2006/main">
            <a:off x="4648200" y="2476500"/>
            <a:ext cx="2714625" cy="1047750"/>
          </a:xfrm>
          <a:prstGeom xmlns:a="http://schemas.openxmlformats.org/drawingml/2006/main" prst="rect">
            <a:avLst/>
          </a:prstGeom>
          <a:solidFill xmlns:a="http://schemas.openxmlformats.org/drawingml/2006/main">
            <a:srgbClr val="E7EFE9"/>
          </a:solidFill>
          <a:ln xmlns:a="http://schemas.openxmlformats.org/drawingml/2006/main" w="9525">
            <a:solidFill>
              <a:srgbClr val="A6BFB0"/>
            </a:solidFill>
          </a:ln>
        </p:spPr>
      </p:sp>
      <p:sp>
        <p:nvSpPr>
          <p:cNvPr id="11" name="">
            <a:extLst xmlns:a="http://schemas.openxmlformats.org/drawingml/2006/main">
              <a:ext uri="{FF2B5EF4-FFF2-40B4-BE49-F238E27FC236}">
                <a16:creationId xmlns:a16="http://schemas.microsoft.com/office/drawing/2014/main" id="{552399DE-6672-4A13-B806-1BAE3A782488}"/>
              </a:ext>
            </a:extLst>
          </p:cNvPr>
          <p:cNvSpPr>
            <a:spLocks xmlns:a="http://schemas.openxmlformats.org/drawingml/2006/main" noGrp="1"/>
          </p:cNvSpPr>
          <p:nvPr/>
        </p:nvSpPr>
        <p:spPr>
          <a:xfrm xmlns:a="http://schemas.openxmlformats.org/drawingml/2006/main">
            <a:off x="4819650" y="2638425"/>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362D"/>
                </a:solidFill>
                <a:latin typeface="Arial"/>
                <a:ea typeface="Arial"/>
                <a:cs typeface="Arial"/>
              </a:defRPr>
            </a:defPPr>
          </a:lstStyle>
          <a:p xmlns:a="http://schemas.openxmlformats.org/drawingml/2006/main">
            <a:pPr>
              <a:defRPr sz="1725" b="1">
                <a:solidFill>
                  <a:srgbClr val="17362D"/>
                </a:solidFill>
                <a:latin typeface="Arial"/>
                <a:ea typeface="Arial"/>
                <a:cs typeface="Arial"/>
              </a:defRPr>
            </a:pPr>
            <a:r>
              <a:rPr sz="1725" b="1">
                <a:solidFill>
                  <a:srgbClr val="17362D"/>
                </a:solidFill>
                <a:latin typeface="Arial"/>
                <a:ea typeface="Arial"/>
                <a:cs typeface="Arial"/>
              </a:rPr>
              <a:t>Data-quality gate</a:t>
            </a:r>
          </a:p>
        </p:txBody>
      </p:sp>
      <p:sp>
        <p:nvSpPr>
          <p:cNvPr id="12" name="">
            <a:extLst xmlns:a="http://schemas.openxmlformats.org/drawingml/2006/main">
              <a:ext uri="{FF2B5EF4-FFF2-40B4-BE49-F238E27FC236}">
                <a16:creationId xmlns:a16="http://schemas.microsoft.com/office/drawing/2014/main" id="{A6C61C27-9A1C-465B-BAF0-503B577E4E1F}"/>
              </a:ext>
            </a:extLst>
          </p:cNvPr>
          <p:cNvSpPr>
            <a:spLocks xmlns:a="http://schemas.openxmlformats.org/drawingml/2006/main" noGrp="1"/>
          </p:cNvSpPr>
          <p:nvPr/>
        </p:nvSpPr>
        <p:spPr>
          <a:xfrm xmlns:a="http://schemas.openxmlformats.org/drawingml/2006/main">
            <a:off x="4819650" y="3000375"/>
            <a:ext cx="2371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67A71"/>
                </a:solidFill>
                <a:latin typeface="Arial"/>
                <a:ea typeface="Arial"/>
                <a:cs typeface="Arial"/>
              </a:defRPr>
            </a:defPPr>
          </a:lstStyle>
          <a:p xmlns:a="http://schemas.openxmlformats.org/drawingml/2006/main">
            <a:pPr>
              <a:defRPr sz="1275" b="0">
                <a:solidFill>
                  <a:srgbClr val="667A71"/>
                </a:solidFill>
                <a:latin typeface="Arial"/>
                <a:ea typeface="Arial"/>
                <a:cs typeface="Arial"/>
              </a:defRPr>
            </a:pPr>
            <a:r>
              <a:rPr sz="1275" b="0">
                <a:solidFill>
                  <a:srgbClr val="667A71"/>
                </a:solidFill>
                <a:latin typeface="Arial"/>
                <a:ea typeface="Arial"/>
                <a:cs typeface="Arial"/>
              </a:rPr>
              <a:t>Fresh, ordered, complete, supported</a:t>
            </a:r>
          </a:p>
        </p:txBody>
      </p:sp>
      <p:sp>
        <p:nvSpPr>
          <p:cNvPr id="13" name="">
            <a:extLst xmlns:a="http://schemas.openxmlformats.org/drawingml/2006/main">
              <a:ext uri="{FF2B5EF4-FFF2-40B4-BE49-F238E27FC236}">
                <a16:creationId xmlns:a16="http://schemas.microsoft.com/office/drawing/2014/main" id="{94E35441-4430-4B81-B2CA-ED61A0B5DA2D}"/>
              </a:ext>
            </a:extLst>
          </p:cNvPr>
          <p:cNvSpPr>
            <a:spLocks xmlns:a="http://schemas.openxmlformats.org/drawingml/2006/main" noGrp="1"/>
          </p:cNvSpPr>
          <p:nvPr/>
        </p:nvSpPr>
        <p:spPr>
          <a:xfrm xmlns:a="http://schemas.openxmlformats.org/drawingml/2006/main">
            <a:off x="8591550" y="1600200"/>
            <a:ext cx="2857500" cy="1047750"/>
          </a:xfrm>
          <a:prstGeom xmlns:a="http://schemas.openxmlformats.org/drawingml/2006/main" prst="rect">
            <a:avLst/>
          </a:prstGeom>
          <a:solidFill xmlns:a="http://schemas.openxmlformats.org/drawingml/2006/main">
            <a:srgbClr val="E7EFE9"/>
          </a:solidFill>
          <a:ln xmlns:a="http://schemas.openxmlformats.org/drawingml/2006/main" w="9525">
            <a:solidFill>
              <a:srgbClr val="A6BFB0"/>
            </a:solidFill>
          </a:ln>
        </p:spPr>
      </p:sp>
      <p:sp>
        <p:nvSpPr>
          <p:cNvPr id="14" name="">
            <a:extLst xmlns:a="http://schemas.openxmlformats.org/drawingml/2006/main">
              <a:ext uri="{FF2B5EF4-FFF2-40B4-BE49-F238E27FC236}">
                <a16:creationId xmlns:a16="http://schemas.microsoft.com/office/drawing/2014/main" id="{32CEA02C-07BD-4F4D-A686-49017E9AE5A2}"/>
              </a:ext>
            </a:extLst>
          </p:cNvPr>
          <p:cNvSpPr>
            <a:spLocks xmlns:a="http://schemas.openxmlformats.org/drawingml/2006/main" noGrp="1"/>
          </p:cNvSpPr>
          <p:nvPr/>
        </p:nvSpPr>
        <p:spPr>
          <a:xfrm xmlns:a="http://schemas.openxmlformats.org/drawingml/2006/main">
            <a:off x="8763000" y="1762125"/>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362D"/>
                </a:solidFill>
                <a:latin typeface="Arial"/>
                <a:ea typeface="Arial"/>
                <a:cs typeface="Arial"/>
              </a:defRPr>
            </a:defPPr>
          </a:lstStyle>
          <a:p xmlns:a="http://schemas.openxmlformats.org/drawingml/2006/main">
            <a:pPr>
              <a:defRPr sz="1725" b="1">
                <a:solidFill>
                  <a:srgbClr val="17362D"/>
                </a:solidFill>
                <a:latin typeface="Arial"/>
                <a:ea typeface="Arial"/>
                <a:cs typeface="Arial"/>
              </a:defRPr>
            </a:pPr>
            <a:r>
              <a:rPr sz="1725" b="1">
                <a:solidFill>
                  <a:srgbClr val="17362D"/>
                </a:solidFill>
                <a:latin typeface="Arial"/>
                <a:ea typeface="Arial"/>
                <a:cs typeface="Arial"/>
              </a:rPr>
              <a:t>Ridge forecasts</a:t>
            </a:r>
          </a:p>
        </p:txBody>
      </p:sp>
      <p:sp>
        <p:nvSpPr>
          <p:cNvPr id="15" name="">
            <a:extLst xmlns:a="http://schemas.openxmlformats.org/drawingml/2006/main">
              <a:ext uri="{FF2B5EF4-FFF2-40B4-BE49-F238E27FC236}">
                <a16:creationId xmlns:a16="http://schemas.microsoft.com/office/drawing/2014/main" id="{6293D887-B705-4090-A0FB-735609AF6438}"/>
              </a:ext>
            </a:extLst>
          </p:cNvPr>
          <p:cNvSpPr>
            <a:spLocks xmlns:a="http://schemas.openxmlformats.org/drawingml/2006/main" noGrp="1"/>
          </p:cNvSpPr>
          <p:nvPr/>
        </p:nvSpPr>
        <p:spPr>
          <a:xfrm xmlns:a="http://schemas.openxmlformats.org/drawingml/2006/main">
            <a:off x="8763000" y="2124075"/>
            <a:ext cx="251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67A71"/>
                </a:solidFill>
                <a:latin typeface="Arial"/>
                <a:ea typeface="Arial"/>
                <a:cs typeface="Arial"/>
              </a:defRPr>
            </a:defPPr>
          </a:lstStyle>
          <a:p xmlns:a="http://schemas.openxmlformats.org/drawingml/2006/main">
            <a:pPr>
              <a:defRPr sz="1275" b="0">
                <a:solidFill>
                  <a:srgbClr val="667A71"/>
                </a:solidFill>
                <a:latin typeface="Arial"/>
                <a:ea typeface="Arial"/>
                <a:cs typeface="Arial"/>
              </a:defRPr>
            </a:pPr>
            <a:r>
              <a:rPr sz="1275" b="0">
                <a:solidFill>
                  <a:srgbClr val="667A71"/>
                </a:solidFill>
                <a:latin typeface="Arial"/>
                <a:ea typeface="Arial"/>
                <a:cs typeface="Arial"/>
              </a:rPr>
              <a:t>30, 60, 90, 120 minutes</a:t>
            </a:r>
          </a:p>
        </p:txBody>
      </p:sp>
      <p:sp>
        <p:nvSpPr>
          <p:cNvPr id="16" name="">
            <a:extLst xmlns:a="http://schemas.openxmlformats.org/drawingml/2006/main">
              <a:ext uri="{FF2B5EF4-FFF2-40B4-BE49-F238E27FC236}">
                <a16:creationId xmlns:a16="http://schemas.microsoft.com/office/drawing/2014/main" id="{F77731F8-0F47-46CA-948E-33F037F061A4}"/>
              </a:ext>
            </a:extLst>
          </p:cNvPr>
          <p:cNvSpPr>
            <a:spLocks xmlns:a="http://schemas.openxmlformats.org/drawingml/2006/main" noGrp="1"/>
          </p:cNvSpPr>
          <p:nvPr/>
        </p:nvSpPr>
        <p:spPr>
          <a:xfrm xmlns:a="http://schemas.openxmlformats.org/drawingml/2006/main">
            <a:off x="8591550" y="3352800"/>
            <a:ext cx="2857500" cy="1047750"/>
          </a:xfrm>
          <a:prstGeom xmlns:a="http://schemas.openxmlformats.org/drawingml/2006/main" prst="rect">
            <a:avLst/>
          </a:prstGeom>
          <a:solidFill xmlns:a="http://schemas.openxmlformats.org/drawingml/2006/main">
            <a:srgbClr val="E7EFE9"/>
          </a:solidFill>
          <a:ln xmlns:a="http://schemas.openxmlformats.org/drawingml/2006/main" w="9525">
            <a:solidFill>
              <a:srgbClr val="A6BFB0"/>
            </a:solidFill>
          </a:ln>
        </p:spPr>
      </p:sp>
      <p:sp>
        <p:nvSpPr>
          <p:cNvPr id="17" name="">
            <a:extLst xmlns:a="http://schemas.openxmlformats.org/drawingml/2006/main">
              <a:ext uri="{FF2B5EF4-FFF2-40B4-BE49-F238E27FC236}">
                <a16:creationId xmlns:a16="http://schemas.microsoft.com/office/drawing/2014/main" id="{173225EA-150D-432A-AB2D-3AB4D8684278}"/>
              </a:ext>
            </a:extLst>
          </p:cNvPr>
          <p:cNvSpPr>
            <a:spLocks xmlns:a="http://schemas.openxmlformats.org/drawingml/2006/main" noGrp="1"/>
          </p:cNvSpPr>
          <p:nvPr/>
        </p:nvSpPr>
        <p:spPr>
          <a:xfrm xmlns:a="http://schemas.openxmlformats.org/drawingml/2006/main">
            <a:off x="8763000" y="3514725"/>
            <a:ext cx="251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362D"/>
                </a:solidFill>
                <a:latin typeface="Arial"/>
                <a:ea typeface="Arial"/>
                <a:cs typeface="Arial"/>
              </a:defRPr>
            </a:defPPr>
          </a:lstStyle>
          <a:p xmlns:a="http://schemas.openxmlformats.org/drawingml/2006/main">
            <a:pPr>
              <a:defRPr sz="1725" b="1">
                <a:solidFill>
                  <a:srgbClr val="17362D"/>
                </a:solidFill>
                <a:latin typeface="Arial"/>
                <a:ea typeface="Arial"/>
                <a:cs typeface="Arial"/>
              </a:defRPr>
            </a:pPr>
            <a:r>
              <a:rPr sz="1725" b="1">
                <a:solidFill>
                  <a:srgbClr val="17362D"/>
                </a:solidFill>
                <a:latin typeface="Arial"/>
                <a:ea typeface="Arial"/>
                <a:cs typeface="Arial"/>
              </a:rPr>
              <a:t>Calibrated intervals</a:t>
            </a:r>
          </a:p>
        </p:txBody>
      </p:sp>
      <p:sp>
        <p:nvSpPr>
          <p:cNvPr id="18" name="">
            <a:extLst xmlns:a="http://schemas.openxmlformats.org/drawingml/2006/main">
              <a:ext uri="{FF2B5EF4-FFF2-40B4-BE49-F238E27FC236}">
                <a16:creationId xmlns:a16="http://schemas.microsoft.com/office/drawing/2014/main" id="{88D12FDB-1F8B-4C0F-AA21-8A3545D4996A}"/>
              </a:ext>
            </a:extLst>
          </p:cNvPr>
          <p:cNvSpPr>
            <a:spLocks xmlns:a="http://schemas.openxmlformats.org/drawingml/2006/main" noGrp="1"/>
          </p:cNvSpPr>
          <p:nvPr/>
        </p:nvSpPr>
        <p:spPr>
          <a:xfrm xmlns:a="http://schemas.openxmlformats.org/drawingml/2006/main">
            <a:off x="8763000" y="3876675"/>
            <a:ext cx="251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67A71"/>
                </a:solidFill>
                <a:latin typeface="Arial"/>
                <a:ea typeface="Arial"/>
                <a:cs typeface="Arial"/>
              </a:defRPr>
            </a:defPPr>
          </a:lstStyle>
          <a:p xmlns:a="http://schemas.openxmlformats.org/drawingml/2006/main">
            <a:pPr>
              <a:defRPr sz="1275" b="0">
                <a:solidFill>
                  <a:srgbClr val="667A71"/>
                </a:solidFill>
                <a:latin typeface="Arial"/>
                <a:ea typeface="Arial"/>
                <a:cs typeface="Arial"/>
              </a:defRPr>
            </a:pPr>
            <a:r>
              <a:rPr sz="1275" b="0">
                <a:solidFill>
                  <a:srgbClr val="667A71"/>
                </a:solidFill>
                <a:latin typeface="Arial"/>
                <a:ea typeface="Arial"/>
                <a:cs typeface="Arial"/>
              </a:rPr>
              <a:t>Separate synthetic calibration group</a:t>
            </a:r>
          </a:p>
        </p:txBody>
      </p:sp>
      <p:sp>
        <p:nvSpPr>
          <p:cNvPr id="23" name="">
            <a:extLst xmlns:a="http://schemas.openxmlformats.org/drawingml/2006/main">
              <a:ext uri="{FF2B5EF4-FFF2-40B4-BE49-F238E27FC236}">
                <a16:creationId xmlns:a16="http://schemas.microsoft.com/office/drawing/2014/main" id="{B99AB179-A660-499F-BDA3-DC25FF00E63F}"/>
              </a:ext>
            </a:extLst>
          </p:cNvPr>
          <p:cNvSpPr>
            <a:spLocks xmlns:a="http://schemas.openxmlformats.org/drawingml/2006/main" noGrp="1"/>
          </p:cNvSpPr>
          <p:nvPr/>
        </p:nvSpPr>
        <p:spPr>
          <a:xfrm xmlns:a="http://schemas.openxmlformats.org/drawingml/2006/main">
            <a:off x="4648200" y="4895850"/>
            <a:ext cx="6800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735B"/>
                </a:solidFill>
                <a:latin typeface="Arial"/>
                <a:ea typeface="Arial"/>
                <a:cs typeface="Arial"/>
              </a:defRPr>
            </a:defPPr>
          </a:lstStyle>
          <a:p xmlns:a="http://schemas.openxmlformats.org/drawingml/2006/main">
            <a:pPr>
              <a:defRPr sz="2175" b="1">
                <a:solidFill>
                  <a:srgbClr val="14735B"/>
                </a:solidFill>
                <a:latin typeface="Arial"/>
                <a:ea typeface="Arial"/>
                <a:cs typeface="Arial"/>
              </a:defRPr>
            </a:pPr>
            <a:r>
              <a:rPr sz="2175" b="1">
                <a:solidFill>
                  <a:srgbClr val="14735B"/>
                </a:solidFill>
                <a:latin typeface="Arial"/>
                <a:ea typeface="Arial"/>
                <a:cs typeface="Arial"/>
              </a:rPr>
              <a:t>Browser dashboard and JSON review export</a:t>
            </a:r>
          </a:p>
        </p:txBody>
      </p:sp>
      <p:sp>
        <p:nvSpPr>
          <p:cNvPr id="24" name="">
            <a:extLst xmlns:a="http://schemas.openxmlformats.org/drawingml/2006/main">
              <a:ext uri="{FF2B5EF4-FFF2-40B4-BE49-F238E27FC236}">
                <a16:creationId xmlns:a16="http://schemas.microsoft.com/office/drawing/2014/main" id="{F23E2629-36A8-4862-8B8B-B5DD88988FA0}"/>
              </a:ext>
            </a:extLst>
          </p:cNvPr>
          <p:cNvSpPr>
            <a:spLocks xmlns:a="http://schemas.openxmlformats.org/drawingml/2006/main" noGrp="1"/>
          </p:cNvSpPr>
          <p:nvPr/>
        </p:nvSpPr>
        <p:spPr>
          <a:xfrm xmlns:a="http://schemas.openxmlformats.org/drawingml/2006/main">
            <a:off x="609600" y="55721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67A71"/>
                </a:solidFill>
                <a:latin typeface="Arial"/>
                <a:ea typeface="Arial"/>
                <a:cs typeface="Arial"/>
              </a:defRPr>
            </a:defPPr>
          </a:lstStyle>
          <a:p xmlns:a="http://schemas.openxmlformats.org/drawingml/2006/main">
            <a:pPr>
              <a:defRPr sz="1575" b="0">
                <a:solidFill>
                  <a:srgbClr val="667A71"/>
                </a:solidFill>
                <a:latin typeface="Arial"/>
                <a:ea typeface="Arial"/>
                <a:cs typeface="Arial"/>
              </a:defRPr>
            </a:pPr>
            <a:r>
              <a:rPr sz="1575" b="0">
                <a:solidFill>
                  <a:srgbClr val="667A71"/>
                </a:solidFill>
                <a:latin typeface="Arial"/>
                <a:ea typeface="Arial"/>
                <a:cs typeface="Arial"/>
              </a:rPr>
              <a:t>Bundled model + fixtures · browser-local inference · no API keys or sensor hardware</a:t>
            </a:r>
          </a:p>
        </p:txBody>
      </p:sp>
    </p:spTree>
    <p:extLst>
      <p:ext uri="{BB962C8B-B14F-4D97-AF65-F5344CB8AC3E}">
        <p14:creationId xmlns:p14="http://schemas.microsoft.com/office/powerpoint/2010/main" val="1909460578"/>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178A007-8600-4255-A05C-FA6138CBD03F}"/>
              </a:ext>
            </a:extLst>
          </p:cNvPr>
          <p:cNvSpPr>
            <a:spLocks xmlns:a="http://schemas.openxmlformats.org/drawingml/2006/main" noGrp="1"/>
          </p:cNvSpPr>
          <p:nvPr/>
        </p:nvSpPr>
        <p:spPr>
          <a:xfrm xmlns:a="http://schemas.openxmlformats.org/drawingml/2006/main">
            <a:off x="609600" y="476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62D"/>
                </a:solidFill>
                <a:latin typeface="Arial"/>
                <a:ea typeface="Arial"/>
                <a:cs typeface="Arial"/>
              </a:defRPr>
            </a:defPPr>
          </a:lstStyle>
          <a:p xmlns:a="http://schemas.openxmlformats.org/drawingml/2006/main">
            <a:pPr>
              <a:defRPr sz="3150" b="1">
                <a:solidFill>
                  <a:srgbClr val="17362D"/>
                </a:solidFill>
                <a:latin typeface="Arial"/>
                <a:ea typeface="Arial"/>
                <a:cs typeface="Arial"/>
              </a:defRPr>
            </a:pPr>
            <a:r>
              <a:rPr sz="3150" b="1">
                <a:solidFill>
                  <a:srgbClr val="17362D"/>
                </a:solidFill>
                <a:latin typeface="Arial"/>
                <a:ea typeface="Arial"/>
                <a:cs typeface="Arial"/>
              </a:rPr>
              <a:t>Reproducible data and model</a:t>
            </a:r>
          </a:p>
        </p:txBody>
      </p:sp>
      <p:sp>
        <p:nvSpPr>
          <p:cNvPr id="2" name="">
            <a:extLst xmlns:a="http://schemas.openxmlformats.org/drawingml/2006/main">
              <a:ext uri="{FF2B5EF4-FFF2-40B4-BE49-F238E27FC236}">
                <a16:creationId xmlns:a16="http://schemas.microsoft.com/office/drawing/2014/main" id="{AB531686-1032-44BA-B748-2E633C18FDAE}"/>
              </a:ext>
            </a:extLst>
          </p:cNvPr>
          <p:cNvSpPr>
            <a:spLocks xmlns:a="http://schemas.openxmlformats.org/drawingml/2006/main" noGrp="1"/>
          </p:cNvSpPr>
          <p:nvPr/>
        </p:nvSpPr>
        <p:spPr>
          <a:xfrm xmlns:a="http://schemas.openxmlformats.org/drawingml/2006/main">
            <a:off x="609600" y="63246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A71"/>
                </a:solidFill>
                <a:latin typeface="Arial"/>
                <a:ea typeface="Arial"/>
                <a:cs typeface="Arial"/>
              </a:defRPr>
            </a:defPPr>
          </a:lstStyle>
          <a:p xmlns:a="http://schemas.openxmlformats.org/drawingml/2006/main">
            <a:pPr>
              <a:defRPr sz="900" b="0">
                <a:solidFill>
                  <a:srgbClr val="667A71"/>
                </a:solidFill>
                <a:latin typeface="Arial"/>
                <a:ea typeface="Arial"/>
                <a:cs typeface="Arial"/>
              </a:defRPr>
            </a:pPr>
            <a:r>
              <a:rPr sz="900" b="0">
                <a:solidFill>
                  <a:srgbClr val="667A71"/>
                </a:solidFill>
                <a:latin typeface="Arial"/>
                <a:ea typeface="Arial"/>
                <a:cs typeface="Arial"/>
              </a:rPr>
              <a:t>GLYRA  /  RESEARCH PROTOTYPE</a:t>
            </a:r>
          </a:p>
        </p:txBody>
      </p:sp>
      <p:sp>
        <p:nvSpPr>
          <p:cNvPr id="3" name="">
            <a:extLst xmlns:a="http://schemas.openxmlformats.org/drawingml/2006/main">
              <a:ext uri="{FF2B5EF4-FFF2-40B4-BE49-F238E27FC236}">
                <a16:creationId xmlns:a16="http://schemas.microsoft.com/office/drawing/2014/main" id="{5AC4506A-C7CE-4670-A7FB-EA39554CA14C}"/>
              </a:ext>
            </a:extLst>
          </p:cNvPr>
          <p:cNvSpPr>
            <a:spLocks xmlns:a="http://schemas.openxmlformats.org/drawingml/2006/main" noGrp="1"/>
          </p:cNvSpPr>
          <p:nvPr/>
        </p:nvSpPr>
        <p:spPr>
          <a:xfrm xmlns:a="http://schemas.openxmlformats.org/drawingml/2006/main">
            <a:off x="11172825" y="63055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67A71"/>
                </a:solidFill>
                <a:latin typeface="Arial"/>
                <a:ea typeface="Arial"/>
                <a:cs typeface="Arial"/>
              </a:defRPr>
            </a:defPPr>
          </a:lstStyle>
          <a:p xmlns:a="http://schemas.openxmlformats.org/drawingml/2006/main">
            <a:pPr>
              <a:defRPr sz="975" b="0">
                <a:solidFill>
                  <a:srgbClr val="667A71"/>
                </a:solidFill>
                <a:latin typeface="Arial"/>
                <a:ea typeface="Arial"/>
                <a:cs typeface="Arial"/>
              </a:defRPr>
            </a:pPr>
            <a:r>
              <a:rPr sz="975" b="0">
                <a:solidFill>
                  <a:srgbClr val="667A71"/>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739BA0F9-2440-4A9F-98EB-11CE509C435B}"/>
              </a:ext>
            </a:extLst>
          </p:cNvPr>
          <p:cNvSpPr>
            <a:spLocks xmlns:a="http://schemas.openxmlformats.org/drawingml/2006/main" noGrp="1"/>
          </p:cNvSpPr>
          <p:nvPr/>
        </p:nvSpPr>
        <p:spPr>
          <a:xfrm xmlns:a="http://schemas.openxmlformats.org/drawingml/2006/main">
            <a:off x="609600" y="16192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2D"/>
                </a:solidFill>
                <a:latin typeface="Arial"/>
                <a:ea typeface="Arial"/>
                <a:cs typeface="Arial"/>
              </a:defRPr>
            </a:defPPr>
          </a:lstStyle>
          <a:p xmlns:a="http://schemas.openxmlformats.org/drawingml/2006/main">
            <a:pPr>
              <a:defRPr sz="1950" b="1">
                <a:solidFill>
                  <a:srgbClr val="17362D"/>
                </a:solidFill>
                <a:latin typeface="Arial"/>
                <a:ea typeface="Arial"/>
                <a:cs typeface="Arial"/>
              </a:defRPr>
            </a:pPr>
            <a:r>
              <a:rPr sz="1950" b="1">
                <a:solidFill>
                  <a:srgbClr val="17362D"/>
                </a:solidFill>
                <a:latin typeface="Arial"/>
                <a:ea typeface="Arial"/>
                <a:cs typeface="Arial"/>
              </a:rPr>
              <a:t>150 synthetic people</a:t>
            </a:r>
          </a:p>
        </p:txBody>
      </p:sp>
      <p:sp>
        <p:nvSpPr>
          <p:cNvPr id="5" name="">
            <a:extLst xmlns:a="http://schemas.openxmlformats.org/drawingml/2006/main">
              <a:ext uri="{FF2B5EF4-FFF2-40B4-BE49-F238E27FC236}">
                <a16:creationId xmlns:a16="http://schemas.microsoft.com/office/drawing/2014/main" id="{0120249A-D580-40F8-ACD3-E685327F9041}"/>
              </a:ext>
            </a:extLst>
          </p:cNvPr>
          <p:cNvSpPr>
            <a:spLocks xmlns:a="http://schemas.openxmlformats.org/drawingml/2006/main" noGrp="1"/>
          </p:cNvSpPr>
          <p:nvPr/>
        </p:nvSpPr>
        <p:spPr>
          <a:xfrm xmlns:a="http://schemas.openxmlformats.org/drawingml/2006/main">
            <a:off x="609600" y="2171700"/>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A71"/>
                </a:solidFill>
                <a:latin typeface="Arial"/>
                <a:ea typeface="Arial"/>
                <a:cs typeface="Arial"/>
              </a:defRPr>
            </a:defPPr>
          </a:lstStyle>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100 train · 25 calibration · 25 test</a:t>
            </a:r>
          </a:p>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Four simulated days per person</a:t>
            </a:r>
          </a:p>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27,600 total forecast windows</a:t>
            </a:r>
          </a:p>
        </p:txBody>
      </p:sp>
      <p:sp>
        <p:nvSpPr>
          <p:cNvPr id="6" name="">
            <a:extLst xmlns:a="http://schemas.openxmlformats.org/drawingml/2006/main">
              <a:ext uri="{FF2B5EF4-FFF2-40B4-BE49-F238E27FC236}">
                <a16:creationId xmlns:a16="http://schemas.microsoft.com/office/drawing/2014/main" id="{575BFF6E-2B7E-4D87-B7C6-F63E7C6907EC}"/>
              </a:ext>
            </a:extLst>
          </p:cNvPr>
          <p:cNvSpPr>
            <a:spLocks xmlns:a="http://schemas.openxmlformats.org/drawingml/2006/main" noGrp="1"/>
          </p:cNvSpPr>
          <p:nvPr/>
        </p:nvSpPr>
        <p:spPr>
          <a:xfrm xmlns:a="http://schemas.openxmlformats.org/drawingml/2006/main">
            <a:off x="6496050" y="16192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2D"/>
                </a:solidFill>
                <a:latin typeface="Arial"/>
                <a:ea typeface="Arial"/>
                <a:cs typeface="Arial"/>
              </a:defRPr>
            </a:defPPr>
          </a:lstStyle>
          <a:p xmlns:a="http://schemas.openxmlformats.org/drawingml/2006/main">
            <a:pPr>
              <a:defRPr sz="1950" b="1">
                <a:solidFill>
                  <a:srgbClr val="17362D"/>
                </a:solidFill>
                <a:latin typeface="Arial"/>
                <a:ea typeface="Arial"/>
                <a:cs typeface="Arial"/>
              </a:defRPr>
            </a:pPr>
            <a:r>
              <a:rPr sz="1950" b="1">
                <a:solidFill>
                  <a:srgbClr val="17362D"/>
                </a:solidFill>
                <a:latin typeface="Arial"/>
                <a:ea typeface="Arial"/>
                <a:cs typeface="Arial"/>
              </a:rPr>
              <a:t>Four regression heads</a:t>
            </a:r>
          </a:p>
        </p:txBody>
      </p:sp>
      <p:sp>
        <p:nvSpPr>
          <p:cNvPr id="7" name="">
            <a:extLst xmlns:a="http://schemas.openxmlformats.org/drawingml/2006/main">
              <a:ext uri="{FF2B5EF4-FFF2-40B4-BE49-F238E27FC236}">
                <a16:creationId xmlns:a16="http://schemas.microsoft.com/office/drawing/2014/main" id="{D7BDC547-BDDA-47C6-A17E-0189E8299426}"/>
              </a:ext>
            </a:extLst>
          </p:cNvPr>
          <p:cNvSpPr>
            <a:spLocks xmlns:a="http://schemas.openxmlformats.org/drawingml/2006/main" noGrp="1"/>
          </p:cNvSpPr>
          <p:nvPr/>
        </p:nvSpPr>
        <p:spPr>
          <a:xfrm xmlns:a="http://schemas.openxmlformats.org/drawingml/2006/main">
            <a:off x="6496050" y="2171700"/>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A71"/>
                </a:solidFill>
                <a:latin typeface="Arial"/>
                <a:ea typeface="Arial"/>
                <a:cs typeface="Arial"/>
              </a:defRPr>
            </a:defPPr>
          </a:lstStyle>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Sixteen temporal and record features</a:t>
            </a:r>
          </a:p>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Training-only standardization</a:t>
            </a:r>
          </a:p>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Ridge penalty 8; unpenalized intercept</a:t>
            </a:r>
          </a:p>
        </p:txBody>
      </p:sp>
      <p:sp>
        <p:nvSpPr>
          <p:cNvPr id="8" name="">
            <a:extLst xmlns:a="http://schemas.openxmlformats.org/drawingml/2006/main">
              <a:ext uri="{FF2B5EF4-FFF2-40B4-BE49-F238E27FC236}">
                <a16:creationId xmlns:a16="http://schemas.microsoft.com/office/drawing/2014/main" id="{16C71E9A-11E8-48DC-BBB3-4D301EB6B6F2}"/>
              </a:ext>
            </a:extLst>
          </p:cNvPr>
          <p:cNvSpPr>
            <a:spLocks xmlns:a="http://schemas.openxmlformats.org/drawingml/2006/main" noGrp="1"/>
          </p:cNvSpPr>
          <p:nvPr/>
        </p:nvSpPr>
        <p:spPr>
          <a:xfrm xmlns:a="http://schemas.openxmlformats.org/drawingml/2006/main">
            <a:off x="609600" y="46672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735B"/>
                </a:solidFill>
                <a:latin typeface="Arial"/>
                <a:ea typeface="Arial"/>
                <a:cs typeface="Arial"/>
              </a:defRPr>
            </a:defPPr>
          </a:lstStyle>
          <a:p xmlns:a="http://schemas.openxmlformats.org/drawingml/2006/main">
            <a:pPr>
              <a:defRPr sz="2100" b="0">
                <a:solidFill>
                  <a:srgbClr val="14735B"/>
                </a:solidFill>
                <a:latin typeface="Arial"/>
                <a:ea typeface="Arial"/>
                <a:cs typeface="Arial"/>
              </a:defRPr>
            </a:pPr>
            <a:r>
              <a:rPr sz="2100" b="0">
                <a:solidFill>
                  <a:srgbClr val="14735B"/>
                </a:solidFill>
                <a:latin typeface="Arial"/>
                <a:ea typeface="Arial"/>
                <a:cs typeface="Arial"/>
              </a:rPr>
              <a:t>Generator includes variable meals, sleep, activity, sensor noise and future meals unknown to the model.</a:t>
            </a:r>
          </a:p>
        </p:txBody>
      </p:sp>
      <p:sp>
        <p:nvSpPr>
          <p:cNvPr id="9" name="">
            <a:extLst xmlns:a="http://schemas.openxmlformats.org/drawingml/2006/main">
              <a:ext uri="{FF2B5EF4-FFF2-40B4-BE49-F238E27FC236}">
                <a16:creationId xmlns:a16="http://schemas.microsoft.com/office/drawing/2014/main" id="{2B29DD5F-13AD-4A07-86C3-7D030D46B561}"/>
              </a:ext>
            </a:extLst>
          </p:cNvPr>
          <p:cNvSpPr>
            <a:spLocks xmlns:a="http://schemas.openxmlformats.org/drawingml/2006/main" noGrp="1"/>
          </p:cNvSpPr>
          <p:nvPr/>
        </p:nvSpPr>
        <p:spPr>
          <a:xfrm xmlns:a="http://schemas.openxmlformats.org/drawingml/2006/main">
            <a:off x="609600" y="56388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67A71"/>
                </a:solidFill>
                <a:latin typeface="Arial"/>
                <a:ea typeface="Arial"/>
                <a:cs typeface="Arial"/>
              </a:defRPr>
            </a:defPPr>
          </a:lstStyle>
          <a:p xmlns:a="http://schemas.openxmlformats.org/drawingml/2006/main">
            <a:pPr>
              <a:defRPr sz="1575" b="0">
                <a:solidFill>
                  <a:srgbClr val="667A71"/>
                </a:solidFill>
                <a:latin typeface="Arial"/>
                <a:ea typeface="Arial"/>
                <a:cs typeface="Arial"/>
              </a:defRPr>
            </a:pPr>
            <a:r>
              <a:rPr sz="1575" b="0">
                <a:solidFill>
                  <a:srgbClr val="667A71"/>
                </a:solidFill>
                <a:latin typeface="Arial"/>
                <a:ea typeface="Arial"/>
                <a:cs typeface="Arial"/>
              </a:rPr>
              <a:t>A fixed seed and separate people make the benchmark reproducible. The generator simplifies physiology.</a:t>
            </a:r>
          </a:p>
        </p:txBody>
      </p:sp>
    </p:spTree>
    <p:extLst>
      <p:ext uri="{BB962C8B-B14F-4D97-AF65-F5344CB8AC3E}">
        <p14:creationId xmlns:p14="http://schemas.microsoft.com/office/powerpoint/2010/main" val="442781268"/>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A78AFE-E5A9-4129-A19C-506DE96A4E36}"/>
              </a:ext>
            </a:extLst>
          </p:cNvPr>
          <p:cNvSpPr>
            <a:spLocks xmlns:a="http://schemas.openxmlformats.org/drawingml/2006/main" noGrp="1"/>
          </p:cNvSpPr>
          <p:nvPr/>
        </p:nvSpPr>
        <p:spPr>
          <a:xfrm xmlns:a="http://schemas.openxmlformats.org/drawingml/2006/main">
            <a:off x="609600" y="476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62D"/>
                </a:solidFill>
                <a:latin typeface="Arial"/>
                <a:ea typeface="Arial"/>
                <a:cs typeface="Arial"/>
              </a:defRPr>
            </a:defPPr>
          </a:lstStyle>
          <a:p xmlns:a="http://schemas.openxmlformats.org/drawingml/2006/main">
            <a:pPr>
              <a:defRPr sz="3150" b="1">
                <a:solidFill>
                  <a:srgbClr val="17362D"/>
                </a:solidFill>
                <a:latin typeface="Arial"/>
                <a:ea typeface="Arial"/>
                <a:cs typeface="Arial"/>
              </a:defRPr>
            </a:pPr>
            <a:r>
              <a:rPr sz="3150" b="1">
                <a:solidFill>
                  <a:srgbClr val="17362D"/>
                </a:solidFill>
                <a:latin typeface="Arial"/>
                <a:ea typeface="Arial"/>
                <a:cs typeface="Arial"/>
              </a:rPr>
              <a:t>Synthetic benchmark against persistence</a:t>
            </a:r>
          </a:p>
        </p:txBody>
      </p:sp>
      <p:sp>
        <p:nvSpPr>
          <p:cNvPr id="2" name="">
            <a:extLst xmlns:a="http://schemas.openxmlformats.org/drawingml/2006/main">
              <a:ext uri="{FF2B5EF4-FFF2-40B4-BE49-F238E27FC236}">
                <a16:creationId xmlns:a16="http://schemas.microsoft.com/office/drawing/2014/main" id="{CE15666F-AD4D-46BD-BA09-A8015A64B364}"/>
              </a:ext>
            </a:extLst>
          </p:cNvPr>
          <p:cNvSpPr>
            <a:spLocks xmlns:a="http://schemas.openxmlformats.org/drawingml/2006/main" noGrp="1"/>
          </p:cNvSpPr>
          <p:nvPr/>
        </p:nvSpPr>
        <p:spPr>
          <a:xfrm xmlns:a="http://schemas.openxmlformats.org/drawingml/2006/main">
            <a:off x="609600" y="63246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A71"/>
                </a:solidFill>
                <a:latin typeface="Arial"/>
                <a:ea typeface="Arial"/>
                <a:cs typeface="Arial"/>
              </a:defRPr>
            </a:defPPr>
          </a:lstStyle>
          <a:p xmlns:a="http://schemas.openxmlformats.org/drawingml/2006/main">
            <a:pPr>
              <a:defRPr sz="900" b="0">
                <a:solidFill>
                  <a:srgbClr val="667A71"/>
                </a:solidFill>
                <a:latin typeface="Arial"/>
                <a:ea typeface="Arial"/>
                <a:cs typeface="Arial"/>
              </a:defRPr>
            </a:pPr>
            <a:r>
              <a:rPr sz="900" b="0">
                <a:solidFill>
                  <a:srgbClr val="667A71"/>
                </a:solidFill>
                <a:latin typeface="Arial"/>
                <a:ea typeface="Arial"/>
                <a:cs typeface="Arial"/>
              </a:rPr>
              <a:t>GLYRA  /  RESEARCH PROTOTYPE</a:t>
            </a:r>
          </a:p>
        </p:txBody>
      </p:sp>
      <p:sp>
        <p:nvSpPr>
          <p:cNvPr id="3" name="">
            <a:extLst xmlns:a="http://schemas.openxmlformats.org/drawingml/2006/main">
              <a:ext uri="{FF2B5EF4-FFF2-40B4-BE49-F238E27FC236}">
                <a16:creationId xmlns:a16="http://schemas.microsoft.com/office/drawing/2014/main" id="{C3B25945-B894-4847-A139-74026BBC1B80}"/>
              </a:ext>
            </a:extLst>
          </p:cNvPr>
          <p:cNvSpPr>
            <a:spLocks xmlns:a="http://schemas.openxmlformats.org/drawingml/2006/main" noGrp="1"/>
          </p:cNvSpPr>
          <p:nvPr/>
        </p:nvSpPr>
        <p:spPr>
          <a:xfrm xmlns:a="http://schemas.openxmlformats.org/drawingml/2006/main">
            <a:off x="11172825" y="63055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67A71"/>
                </a:solidFill>
                <a:latin typeface="Arial"/>
                <a:ea typeface="Arial"/>
                <a:cs typeface="Arial"/>
              </a:defRPr>
            </a:defPPr>
          </a:lstStyle>
          <a:p xmlns:a="http://schemas.openxmlformats.org/drawingml/2006/main">
            <a:pPr>
              <a:defRPr sz="975" b="0">
                <a:solidFill>
                  <a:srgbClr val="667A71"/>
                </a:solidFill>
                <a:latin typeface="Arial"/>
                <a:ea typeface="Arial"/>
                <a:cs typeface="Arial"/>
              </a:defRPr>
            </a:pPr>
            <a:r>
              <a:rPr sz="975" b="0">
                <a:solidFill>
                  <a:srgbClr val="667A71"/>
                </a:solidFill>
                <a:latin typeface="Arial"/>
                <a:ea typeface="Arial"/>
                <a:cs typeface="Arial"/>
              </a:rPr>
              <a:t>06</a:t>
            </a:r>
          </a:p>
        </p:txBody>
      </p:sp>
      <p:graphicFrame>
        <p:nvGraphicFramePr>
          <p:cNvPr id="4" name="Chart">
            <a:extLst xmlns:a="http://schemas.openxmlformats.org/drawingml/2006/main">
              <a:ext uri="{FF2B5EF4-FFF2-40B4-BE49-F238E27FC236}">
                <a16:creationId xmlns:a16="http://schemas.microsoft.com/office/drawing/2014/main" id="{2972BC7A-D0E4-4AE5-A32B-7EF93C513992}"/>
              </a:ext>
            </a:extLst>
          </p:cNvPr>
          <p:cNvGraphicFramePr/>
          <p:nvPr/>
        </p:nvGraphicFramePr>
        <p:xfrm>
          <a:off xmlns:a="http://schemas.openxmlformats.org/drawingml/2006/main" x="571500" y="1619250"/>
          <a:ext xmlns:a="http://schemas.openxmlformats.org/drawingml/2006/main" cx="7334250" cy="3905250"/>
        </p:xfrm>
        <a:graphic xmlns:a="http://schemas.openxmlformats.org/drawingml/2006/main">
          <a:graphicData uri="http://schemas.openxmlformats.org/drawingml/2006/chart">
            <c:chart xmlns:r="http://schemas.openxmlformats.org/officeDocument/2006/relationships" xmlns:c="http://schemas.openxmlformats.org/drawingml/2006/chart" r:id="R35b4c11d49d2417a"/>
          </a:graphicData>
        </a:graphic>
      </p:graphicFrame>
      <p:sp>
        <p:nvSpPr>
          <p:cNvPr id="5" name="">
            <a:extLst xmlns:a="http://schemas.openxmlformats.org/drawingml/2006/main">
              <a:ext uri="{FF2B5EF4-FFF2-40B4-BE49-F238E27FC236}">
                <a16:creationId xmlns:a16="http://schemas.microsoft.com/office/drawing/2014/main" id="{D28ADFA0-0931-4069-84A0-ABB8BFCEDD1B}"/>
              </a:ext>
            </a:extLst>
          </p:cNvPr>
          <p:cNvSpPr>
            <a:spLocks xmlns:a="http://schemas.openxmlformats.org/drawingml/2006/main" noGrp="1"/>
          </p:cNvSpPr>
          <p:nvPr/>
        </p:nvSpPr>
        <p:spPr>
          <a:xfrm xmlns:a="http://schemas.openxmlformats.org/drawingml/2006/main">
            <a:off x="8553450" y="1952625"/>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14735B"/>
                </a:solidFill>
                <a:latin typeface="Arial"/>
                <a:ea typeface="Arial"/>
                <a:cs typeface="Arial"/>
              </a:defRPr>
            </a:defPPr>
          </a:lstStyle>
          <a:p xmlns:a="http://schemas.openxmlformats.org/drawingml/2006/main">
            <a:pPr>
              <a:defRPr sz="5250" b="1">
                <a:solidFill>
                  <a:srgbClr val="14735B"/>
                </a:solidFill>
                <a:latin typeface="Arial"/>
                <a:ea typeface="Arial"/>
                <a:cs typeface="Arial"/>
              </a:defRPr>
            </a:pPr>
            <a:r>
              <a:rPr sz="5250" b="1">
                <a:solidFill>
                  <a:srgbClr val="14735B"/>
                </a:solidFill>
                <a:latin typeface="Arial"/>
                <a:ea typeface="Arial"/>
                <a:cs typeface="Arial"/>
              </a:rPr>
              <a:t>19.64</a:t>
            </a:r>
          </a:p>
        </p:txBody>
      </p:sp>
      <p:sp>
        <p:nvSpPr>
          <p:cNvPr id="6" name="">
            <a:extLst xmlns:a="http://schemas.openxmlformats.org/drawingml/2006/main">
              <a:ext uri="{FF2B5EF4-FFF2-40B4-BE49-F238E27FC236}">
                <a16:creationId xmlns:a16="http://schemas.microsoft.com/office/drawing/2014/main" id="{76C0D0F0-C7CF-4CA2-9F3C-FFCF11616077}"/>
              </a:ext>
            </a:extLst>
          </p:cNvPr>
          <p:cNvSpPr>
            <a:spLocks xmlns:a="http://schemas.openxmlformats.org/drawingml/2006/main" noGrp="1"/>
          </p:cNvSpPr>
          <p:nvPr/>
        </p:nvSpPr>
        <p:spPr>
          <a:xfrm xmlns:a="http://schemas.openxmlformats.org/drawingml/2006/main">
            <a:off x="8591550" y="2924175"/>
            <a:ext cx="2809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67A71"/>
                </a:solidFill>
                <a:latin typeface="Arial"/>
                <a:ea typeface="Arial"/>
                <a:cs typeface="Arial"/>
              </a:defRPr>
            </a:defPPr>
          </a:lstStyle>
          <a:p xmlns:a="http://schemas.openxmlformats.org/drawingml/2006/main">
            <a:pPr>
              <a:defRPr sz="1875" b="0">
                <a:solidFill>
                  <a:srgbClr val="667A71"/>
                </a:solidFill>
                <a:latin typeface="Arial"/>
                <a:ea typeface="Arial"/>
                <a:cs typeface="Arial"/>
              </a:defRPr>
            </a:pPr>
            <a:r>
              <a:rPr sz="1875" b="0">
                <a:solidFill>
                  <a:srgbClr val="667A71"/>
                </a:solidFill>
                <a:latin typeface="Arial"/>
                <a:ea typeface="Arial"/>
                <a:cs typeface="Arial"/>
              </a:rPr>
              <a:t>mg/dL MAE at 120 min</a:t>
            </a:r>
          </a:p>
          <a:p xmlns:a="http://schemas.openxmlformats.org/drawingml/2006/main">
            <a:pPr>
              <a:defRPr sz="1875" b="0">
                <a:solidFill>
                  <a:srgbClr val="667A71"/>
                </a:solidFill>
                <a:latin typeface="Arial"/>
                <a:ea typeface="Arial"/>
                <a:cs typeface="Arial"/>
              </a:defRPr>
            </a:pPr>
            <a:r>
              <a:rPr sz="1875" b="0">
                <a:solidFill>
                  <a:srgbClr val="667A71"/>
                </a:solidFill>
                <a:latin typeface="Arial"/>
                <a:ea typeface="Arial"/>
                <a:cs typeface="Arial"/>
              </a:rPr>
              <a:t>29.79 persistence baseline</a:t>
            </a:r>
          </a:p>
        </p:txBody>
      </p:sp>
      <p:sp>
        <p:nvSpPr>
          <p:cNvPr id="7" name="">
            <a:extLst xmlns:a="http://schemas.openxmlformats.org/drawingml/2006/main">
              <a:ext uri="{FF2B5EF4-FFF2-40B4-BE49-F238E27FC236}">
                <a16:creationId xmlns:a16="http://schemas.microsoft.com/office/drawing/2014/main" id="{F671A9E1-83C8-441C-848E-9FECE9AA4002}"/>
              </a:ext>
            </a:extLst>
          </p:cNvPr>
          <p:cNvSpPr>
            <a:spLocks xmlns:a="http://schemas.openxmlformats.org/drawingml/2006/main" noGrp="1"/>
          </p:cNvSpPr>
          <p:nvPr/>
        </p:nvSpPr>
        <p:spPr>
          <a:xfrm xmlns:a="http://schemas.openxmlformats.org/drawingml/2006/main">
            <a:off x="8591550" y="4229100"/>
            <a:ext cx="2809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67A71"/>
                </a:solidFill>
                <a:latin typeface="Arial"/>
                <a:ea typeface="Arial"/>
                <a:cs typeface="Arial"/>
              </a:defRPr>
            </a:defPPr>
          </a:lstStyle>
          <a:p xmlns:a="http://schemas.openxmlformats.org/drawingml/2006/main">
            <a:pPr>
              <a:defRPr sz="1650" b="0">
                <a:solidFill>
                  <a:srgbClr val="667A71"/>
                </a:solidFill>
                <a:latin typeface="Arial"/>
                <a:ea typeface="Arial"/>
                <a:cs typeface="Arial"/>
              </a:defRPr>
            </a:pPr>
            <a:r>
              <a:rPr sz="1650" b="0">
                <a:solidFill>
                  <a:srgbClr val="667A71"/>
                </a:solidFill>
                <a:latin typeface="Arial"/>
                <a:ea typeface="Arial"/>
                <a:cs typeface="Arial"/>
              </a:rPr>
              <a:t>89.8% empirical coverage</a:t>
            </a:r>
          </a:p>
          <a:p xmlns:a="http://schemas.openxmlformats.org/drawingml/2006/main">
            <a:pPr>
              <a:defRPr sz="1650" b="0">
                <a:solidFill>
                  <a:srgbClr val="667A71"/>
                </a:solidFill>
                <a:latin typeface="Arial"/>
                <a:ea typeface="Arial"/>
                <a:cs typeface="Arial"/>
              </a:defRPr>
            </a:pPr>
            <a:r>
              <a:rPr sz="1650" b="0">
                <a:solidFill>
                  <a:srgbClr val="667A71"/>
                </a:solidFill>
                <a:latin typeface="Arial"/>
                <a:ea typeface="Arial"/>
                <a:cs typeface="Arial"/>
              </a:rPr>
              <a:t>90% nominal pointwise interval</a:t>
            </a:r>
          </a:p>
        </p:txBody>
      </p:sp>
      <p:sp>
        <p:nvSpPr>
          <p:cNvPr id="8" name="">
            <a:extLst xmlns:a="http://schemas.openxmlformats.org/drawingml/2006/main">
              <a:ext uri="{FF2B5EF4-FFF2-40B4-BE49-F238E27FC236}">
                <a16:creationId xmlns:a16="http://schemas.microsoft.com/office/drawing/2014/main" id="{3BFFEC69-E6D5-4C04-92EA-7E507F2DB78A}"/>
              </a:ext>
            </a:extLst>
          </p:cNvPr>
          <p:cNvSpPr>
            <a:spLocks xmlns:a="http://schemas.openxmlformats.org/drawingml/2006/main" noGrp="1"/>
          </p:cNvSpPr>
          <p:nvPr/>
        </p:nvSpPr>
        <p:spPr>
          <a:xfrm xmlns:a="http://schemas.openxmlformats.org/drawingml/2006/main">
            <a:off x="609600" y="57721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67A71"/>
                </a:solidFill>
                <a:latin typeface="Arial"/>
                <a:ea typeface="Arial"/>
                <a:cs typeface="Arial"/>
              </a:defRPr>
            </a:defPPr>
          </a:lstStyle>
          <a:p xmlns:a="http://schemas.openxmlformats.org/drawingml/2006/main">
            <a:pPr>
              <a:defRPr sz="1650" b="0">
                <a:solidFill>
                  <a:srgbClr val="667A71"/>
                </a:solidFill>
                <a:latin typeface="Arial"/>
                <a:ea typeface="Arial"/>
                <a:cs typeface="Arial"/>
              </a:defRPr>
            </a:pPr>
            <a:r>
              <a:rPr sz="1650" b="0">
                <a:solidFill>
                  <a:srgbClr val="667A71"/>
                </a:solidFill>
                <a:latin typeface="Arial"/>
                <a:ea typeface="Arial"/>
                <a:cs typeface="Arial"/>
              </a:rPr>
              <a:t>25 unseen simulated people · 4,600 windows · synthetic-only performance</a:t>
            </a:r>
          </a:p>
        </p:txBody>
      </p:sp>
    </p:spTree>
    <p:extLst>
      <p:ext uri="{BB962C8B-B14F-4D97-AF65-F5344CB8AC3E}">
        <p14:creationId xmlns:p14="http://schemas.microsoft.com/office/powerpoint/2010/main" val="1465591161"/>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D2AA3F-E705-4729-BEBE-43CA2BD58917}"/>
              </a:ext>
            </a:extLst>
          </p:cNvPr>
          <p:cNvSpPr>
            <a:spLocks xmlns:a="http://schemas.openxmlformats.org/drawingml/2006/main" noGrp="1"/>
          </p:cNvSpPr>
          <p:nvPr/>
        </p:nvSpPr>
        <p:spPr>
          <a:xfrm xmlns:a="http://schemas.openxmlformats.org/drawingml/2006/main">
            <a:off x="609600" y="476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62D"/>
                </a:solidFill>
                <a:latin typeface="Arial"/>
                <a:ea typeface="Arial"/>
                <a:cs typeface="Arial"/>
              </a:defRPr>
            </a:defPPr>
          </a:lstStyle>
          <a:p xmlns:a="http://schemas.openxmlformats.org/drawingml/2006/main">
            <a:pPr>
              <a:defRPr sz="3150" b="1">
                <a:solidFill>
                  <a:srgbClr val="17362D"/>
                </a:solidFill>
                <a:latin typeface="Arial"/>
                <a:ea typeface="Arial"/>
                <a:cs typeface="Arial"/>
              </a:defRPr>
            </a:pPr>
            <a:r>
              <a:rPr sz="3150" b="1">
                <a:solidFill>
                  <a:srgbClr val="17362D"/>
                </a:solidFill>
                <a:latin typeface="Arial"/>
                <a:ea typeface="Arial"/>
                <a:cs typeface="Arial"/>
              </a:rPr>
              <a:t>Explicit provenance for both streams</a:t>
            </a:r>
          </a:p>
        </p:txBody>
      </p:sp>
      <p:sp>
        <p:nvSpPr>
          <p:cNvPr id="2" name="">
            <a:extLst xmlns:a="http://schemas.openxmlformats.org/drawingml/2006/main">
              <a:ext uri="{FF2B5EF4-FFF2-40B4-BE49-F238E27FC236}">
                <a16:creationId xmlns:a16="http://schemas.microsoft.com/office/drawing/2014/main" id="{50A3F183-43EC-4F25-9B56-1CDB870AB2B9}"/>
              </a:ext>
            </a:extLst>
          </p:cNvPr>
          <p:cNvSpPr>
            <a:spLocks xmlns:a="http://schemas.openxmlformats.org/drawingml/2006/main" noGrp="1"/>
          </p:cNvSpPr>
          <p:nvPr/>
        </p:nvSpPr>
        <p:spPr>
          <a:xfrm xmlns:a="http://schemas.openxmlformats.org/drawingml/2006/main">
            <a:off x="609600" y="63246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A71"/>
                </a:solidFill>
                <a:latin typeface="Arial"/>
                <a:ea typeface="Arial"/>
                <a:cs typeface="Arial"/>
              </a:defRPr>
            </a:defPPr>
          </a:lstStyle>
          <a:p xmlns:a="http://schemas.openxmlformats.org/drawingml/2006/main">
            <a:pPr>
              <a:defRPr sz="900" b="0">
                <a:solidFill>
                  <a:srgbClr val="667A71"/>
                </a:solidFill>
                <a:latin typeface="Arial"/>
                <a:ea typeface="Arial"/>
                <a:cs typeface="Arial"/>
              </a:defRPr>
            </a:pPr>
            <a:r>
              <a:rPr sz="900" b="0">
                <a:solidFill>
                  <a:srgbClr val="667A71"/>
                </a:solidFill>
                <a:latin typeface="Arial"/>
                <a:ea typeface="Arial"/>
                <a:cs typeface="Arial"/>
              </a:rPr>
              <a:t>GLYRA  /  RESEARCH PROTOTYPE</a:t>
            </a:r>
          </a:p>
        </p:txBody>
      </p:sp>
      <p:sp>
        <p:nvSpPr>
          <p:cNvPr id="3" name="">
            <a:extLst xmlns:a="http://schemas.openxmlformats.org/drawingml/2006/main">
              <a:ext uri="{FF2B5EF4-FFF2-40B4-BE49-F238E27FC236}">
                <a16:creationId xmlns:a16="http://schemas.microsoft.com/office/drawing/2014/main" id="{2F7FE58D-0EA7-4045-AA82-3D975072C308}"/>
              </a:ext>
            </a:extLst>
          </p:cNvPr>
          <p:cNvSpPr>
            <a:spLocks xmlns:a="http://schemas.openxmlformats.org/drawingml/2006/main" noGrp="1"/>
          </p:cNvSpPr>
          <p:nvPr/>
        </p:nvSpPr>
        <p:spPr>
          <a:xfrm xmlns:a="http://schemas.openxmlformats.org/drawingml/2006/main">
            <a:off x="11172825" y="63055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67A71"/>
                </a:solidFill>
                <a:latin typeface="Arial"/>
                <a:ea typeface="Arial"/>
                <a:cs typeface="Arial"/>
              </a:defRPr>
            </a:defPPr>
          </a:lstStyle>
          <a:p xmlns:a="http://schemas.openxmlformats.org/drawingml/2006/main">
            <a:pPr>
              <a:defRPr sz="975" b="0">
                <a:solidFill>
                  <a:srgbClr val="667A71"/>
                </a:solidFill>
                <a:latin typeface="Arial"/>
                <a:ea typeface="Arial"/>
                <a:cs typeface="Arial"/>
              </a:defRPr>
            </a:pPr>
            <a:r>
              <a:rPr sz="975" b="0">
                <a:solidFill>
                  <a:srgbClr val="667A71"/>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742DC646-C245-4608-B71B-51C06BE3C579}"/>
              </a:ext>
            </a:extLst>
          </p:cNvPr>
          <p:cNvSpPr>
            <a:spLocks xmlns:a="http://schemas.openxmlformats.org/drawingml/2006/main" noGrp="1"/>
          </p:cNvSpPr>
          <p:nvPr/>
        </p:nvSpPr>
        <p:spPr>
          <a:xfrm xmlns:a="http://schemas.openxmlformats.org/drawingml/2006/main">
            <a:off x="609600" y="16192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2D"/>
                </a:solidFill>
                <a:latin typeface="Arial"/>
                <a:ea typeface="Arial"/>
                <a:cs typeface="Arial"/>
              </a:defRPr>
            </a:defPPr>
          </a:lstStyle>
          <a:p xmlns:a="http://schemas.openxmlformats.org/drawingml/2006/main">
            <a:pPr>
              <a:defRPr sz="1950" b="1">
                <a:solidFill>
                  <a:srgbClr val="17362D"/>
                </a:solidFill>
                <a:latin typeface="Arial"/>
                <a:ea typeface="Arial"/>
                <a:cs typeface="Arial"/>
              </a:defRPr>
            </a:pPr>
            <a:r>
              <a:rPr sz="1950" b="1">
                <a:solidFill>
                  <a:srgbClr val="17362D"/>
                </a:solidFill>
                <a:latin typeface="Arial"/>
                <a:ea typeface="Arial"/>
                <a:cs typeface="Arial"/>
              </a:rPr>
              <a:t>Static health record</a:t>
            </a:r>
          </a:p>
        </p:txBody>
      </p:sp>
      <p:sp>
        <p:nvSpPr>
          <p:cNvPr id="5" name="">
            <a:extLst xmlns:a="http://schemas.openxmlformats.org/drawingml/2006/main">
              <a:ext uri="{FF2B5EF4-FFF2-40B4-BE49-F238E27FC236}">
                <a16:creationId xmlns:a16="http://schemas.microsoft.com/office/drawing/2014/main" id="{23D147CF-B90E-4435-B1E0-F7FB4C3BCAC8}"/>
              </a:ext>
            </a:extLst>
          </p:cNvPr>
          <p:cNvSpPr>
            <a:spLocks xmlns:a="http://schemas.openxmlformats.org/drawingml/2006/main" noGrp="1"/>
          </p:cNvSpPr>
          <p:nvPr/>
        </p:nvSpPr>
        <p:spPr>
          <a:xfrm xmlns:a="http://schemas.openxmlformats.org/drawingml/2006/main">
            <a:off x="609600" y="2171700"/>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A71"/>
                </a:solidFill>
                <a:latin typeface="Arial"/>
                <a:ea typeface="Arial"/>
                <a:cs typeface="Arial"/>
              </a:defRPr>
            </a:defPPr>
          </a:lstStyle>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Fasting baseline, HbA1c and age accompany previous sleep and an activity index. Every patient record is labelled synthetic.</a:t>
            </a:r>
          </a:p>
        </p:txBody>
      </p:sp>
      <p:sp>
        <p:nvSpPr>
          <p:cNvPr id="6" name="">
            <a:extLst xmlns:a="http://schemas.openxmlformats.org/drawingml/2006/main">
              <a:ext uri="{FF2B5EF4-FFF2-40B4-BE49-F238E27FC236}">
                <a16:creationId xmlns:a16="http://schemas.microsoft.com/office/drawing/2014/main" id="{17836D23-A264-4B1E-B763-49247E2E9CF8}"/>
              </a:ext>
            </a:extLst>
          </p:cNvPr>
          <p:cNvSpPr>
            <a:spLocks xmlns:a="http://schemas.openxmlformats.org/drawingml/2006/main" noGrp="1"/>
          </p:cNvSpPr>
          <p:nvPr/>
        </p:nvSpPr>
        <p:spPr>
          <a:xfrm xmlns:a="http://schemas.openxmlformats.org/drawingml/2006/main">
            <a:off x="6496050" y="16192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2D"/>
                </a:solidFill>
                <a:latin typeface="Arial"/>
                <a:ea typeface="Arial"/>
                <a:cs typeface="Arial"/>
              </a:defRPr>
            </a:defPPr>
          </a:lstStyle>
          <a:p xmlns:a="http://schemas.openxmlformats.org/drawingml/2006/main">
            <a:pPr>
              <a:defRPr sz="1950" b="1">
                <a:solidFill>
                  <a:srgbClr val="17362D"/>
                </a:solidFill>
                <a:latin typeface="Arial"/>
                <a:ea typeface="Arial"/>
                <a:cs typeface="Arial"/>
              </a:defRPr>
            </a:pPr>
            <a:r>
              <a:rPr sz="1950" b="1">
                <a:solidFill>
                  <a:srgbClr val="17362D"/>
                </a:solidFill>
                <a:latin typeface="Arial"/>
                <a:ea typeface="Arial"/>
                <a:cs typeface="Arial"/>
              </a:rPr>
              <a:t>Dynamic sensor history</a:t>
            </a:r>
          </a:p>
        </p:txBody>
      </p:sp>
      <p:sp>
        <p:nvSpPr>
          <p:cNvPr id="7" name="">
            <a:extLst xmlns:a="http://schemas.openxmlformats.org/drawingml/2006/main">
              <a:ext uri="{FF2B5EF4-FFF2-40B4-BE49-F238E27FC236}">
                <a16:creationId xmlns:a16="http://schemas.microsoft.com/office/drawing/2014/main" id="{4EFB118E-C325-4E87-A216-6A65C3CCC3AB}"/>
              </a:ext>
            </a:extLst>
          </p:cNvPr>
          <p:cNvSpPr>
            <a:spLocks xmlns:a="http://schemas.openxmlformats.org/drawingml/2006/main" noGrp="1"/>
          </p:cNvSpPr>
          <p:nvPr/>
        </p:nvSpPr>
        <p:spPr>
          <a:xfrm xmlns:a="http://schemas.openxmlformats.org/drawingml/2006/main">
            <a:off x="6496050" y="2171700"/>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A71"/>
                </a:solidFill>
                <a:latin typeface="Arial"/>
                <a:ea typeface="Arial"/>
                <a:cs typeface="Arial"/>
              </a:defRPr>
            </a:defPPr>
          </a:lstStyle>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Five-minute glucose series and meals logged before the replay time. Future readings are excluded from features.</a:t>
            </a:r>
          </a:p>
        </p:txBody>
      </p:sp>
      <p:sp>
        <p:nvSpPr>
          <p:cNvPr id="8" name="">
            <a:extLst xmlns:a="http://schemas.openxmlformats.org/drawingml/2006/main">
              <a:ext uri="{FF2B5EF4-FFF2-40B4-BE49-F238E27FC236}">
                <a16:creationId xmlns:a16="http://schemas.microsoft.com/office/drawing/2014/main" id="{DFBF73B0-F363-4CCD-BF0D-B94E8522FB44}"/>
              </a:ext>
            </a:extLst>
          </p:cNvPr>
          <p:cNvSpPr>
            <a:spLocks xmlns:a="http://schemas.openxmlformats.org/drawingml/2006/main" noGrp="1"/>
          </p:cNvSpPr>
          <p:nvPr/>
        </p:nvSpPr>
        <p:spPr>
          <a:xfrm xmlns:a="http://schemas.openxmlformats.org/drawingml/2006/main">
            <a:off x="609600" y="4572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735B"/>
                </a:solidFill>
                <a:latin typeface="Arial"/>
                <a:ea typeface="Arial"/>
                <a:cs typeface="Arial"/>
              </a:defRPr>
            </a:defPPr>
          </a:lstStyle>
          <a:p xmlns:a="http://schemas.openxmlformats.org/drawingml/2006/main">
            <a:pPr>
              <a:defRPr sz="2100" b="0">
                <a:solidFill>
                  <a:srgbClr val="14735B"/>
                </a:solidFill>
                <a:latin typeface="Arial"/>
                <a:ea typeface="Arial"/>
                <a:cs typeface="Arial"/>
              </a:defRPr>
            </a:pPr>
            <a:r>
              <a:rPr sz="2100" b="0">
                <a:solidFill>
                  <a:srgbClr val="14735B"/>
                </a:solidFill>
                <a:latin typeface="Arial"/>
                <a:ea typeface="Arial"/>
                <a:cs typeface="Arial"/>
              </a:rPr>
              <a:t>CSV import runs locally, validates the series and pairs it with the current demo record. No patient data leave the browser.</a:t>
            </a:r>
          </a:p>
        </p:txBody>
      </p:sp>
    </p:spTree>
    <p:extLst>
      <p:ext uri="{BB962C8B-B14F-4D97-AF65-F5344CB8AC3E}">
        <p14:creationId xmlns:p14="http://schemas.microsoft.com/office/powerpoint/2010/main" val="747465923"/>
      </p:ext>
    </p:extLst>
  </p:cSld>
</p:sld>
</file>

<file path=ppt/slides/slide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D24250-B6AB-471F-8B56-23511F80B898}"/>
              </a:ext>
            </a:extLst>
          </p:cNvPr>
          <p:cNvSpPr>
            <a:spLocks xmlns:a="http://schemas.openxmlformats.org/drawingml/2006/main" noGrp="1"/>
          </p:cNvSpPr>
          <p:nvPr/>
        </p:nvSpPr>
        <p:spPr>
          <a:xfrm xmlns:a="http://schemas.openxmlformats.org/drawingml/2006/main">
            <a:off x="609600" y="476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62D"/>
                </a:solidFill>
                <a:latin typeface="Arial"/>
                <a:ea typeface="Arial"/>
                <a:cs typeface="Arial"/>
              </a:defRPr>
            </a:defPPr>
          </a:lstStyle>
          <a:p xmlns:a="http://schemas.openxmlformats.org/drawingml/2006/main">
            <a:pPr>
              <a:defRPr sz="3150" b="1">
                <a:solidFill>
                  <a:srgbClr val="17362D"/>
                </a:solidFill>
                <a:latin typeface="Arial"/>
                <a:ea typeface="Arial"/>
                <a:cs typeface="Arial"/>
              </a:defRPr>
            </a:pPr>
            <a:r>
              <a:rPr sz="3150" b="1">
                <a:solidFill>
                  <a:srgbClr val="17362D"/>
                </a:solidFill>
                <a:latin typeface="Arial"/>
                <a:ea typeface="Arial"/>
                <a:cs typeface="Arial"/>
              </a:rPr>
              <a:t>A missing window withholds the forecast</a:t>
            </a:r>
          </a:p>
        </p:txBody>
      </p:sp>
      <p:sp>
        <p:nvSpPr>
          <p:cNvPr id="2" name="">
            <a:extLst xmlns:a="http://schemas.openxmlformats.org/drawingml/2006/main">
              <a:ext uri="{FF2B5EF4-FFF2-40B4-BE49-F238E27FC236}">
                <a16:creationId xmlns:a16="http://schemas.microsoft.com/office/drawing/2014/main" id="{B248B24F-DFE5-4888-8DAB-2023016EDDF0}"/>
              </a:ext>
            </a:extLst>
          </p:cNvPr>
          <p:cNvSpPr>
            <a:spLocks xmlns:a="http://schemas.openxmlformats.org/drawingml/2006/main" noGrp="1"/>
          </p:cNvSpPr>
          <p:nvPr/>
        </p:nvSpPr>
        <p:spPr>
          <a:xfrm xmlns:a="http://schemas.openxmlformats.org/drawingml/2006/main">
            <a:off x="609600" y="63246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A71"/>
                </a:solidFill>
                <a:latin typeface="Arial"/>
                <a:ea typeface="Arial"/>
                <a:cs typeface="Arial"/>
              </a:defRPr>
            </a:defPPr>
          </a:lstStyle>
          <a:p xmlns:a="http://schemas.openxmlformats.org/drawingml/2006/main">
            <a:pPr>
              <a:defRPr sz="900" b="0">
                <a:solidFill>
                  <a:srgbClr val="667A71"/>
                </a:solidFill>
                <a:latin typeface="Arial"/>
                <a:ea typeface="Arial"/>
                <a:cs typeface="Arial"/>
              </a:defRPr>
            </a:pPr>
            <a:r>
              <a:rPr sz="900" b="0">
                <a:solidFill>
                  <a:srgbClr val="667A71"/>
                </a:solidFill>
                <a:latin typeface="Arial"/>
                <a:ea typeface="Arial"/>
                <a:cs typeface="Arial"/>
              </a:rPr>
              <a:t>GLYRA  /  RESEARCH PROTOTYPE</a:t>
            </a:r>
          </a:p>
        </p:txBody>
      </p:sp>
      <p:sp>
        <p:nvSpPr>
          <p:cNvPr id="3" name="">
            <a:extLst xmlns:a="http://schemas.openxmlformats.org/drawingml/2006/main">
              <a:ext uri="{FF2B5EF4-FFF2-40B4-BE49-F238E27FC236}">
                <a16:creationId xmlns:a16="http://schemas.microsoft.com/office/drawing/2014/main" id="{0A5AD212-A695-47DA-BF2A-4A2F6677B5CB}"/>
              </a:ext>
            </a:extLst>
          </p:cNvPr>
          <p:cNvSpPr>
            <a:spLocks xmlns:a="http://schemas.openxmlformats.org/drawingml/2006/main" noGrp="1"/>
          </p:cNvSpPr>
          <p:nvPr/>
        </p:nvSpPr>
        <p:spPr>
          <a:xfrm xmlns:a="http://schemas.openxmlformats.org/drawingml/2006/main">
            <a:off x="11172825" y="63055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67A71"/>
                </a:solidFill>
                <a:latin typeface="Arial"/>
                <a:ea typeface="Arial"/>
                <a:cs typeface="Arial"/>
              </a:defRPr>
            </a:defPPr>
          </a:lstStyle>
          <a:p xmlns:a="http://schemas.openxmlformats.org/drawingml/2006/main">
            <a:pPr>
              <a:defRPr sz="975" b="0">
                <a:solidFill>
                  <a:srgbClr val="667A71"/>
                </a:solidFill>
                <a:latin typeface="Arial"/>
                <a:ea typeface="Arial"/>
                <a:cs typeface="Arial"/>
              </a:defRPr>
            </a:pPr>
            <a:r>
              <a:rPr sz="975" b="0">
                <a:solidFill>
                  <a:srgbClr val="667A71"/>
                </a:solidFill>
                <a:latin typeface="Arial"/>
                <a:ea typeface="Arial"/>
                <a:cs typeface="Arial"/>
              </a:rPr>
              <a:t>08</a:t>
            </a:r>
          </a:p>
        </p:txBody>
      </p:sp>
      <p:pic>
        <p:nvPicPr>
          <p:cNvPr id="4" name="">
            <a:extLst xmlns:a="http://schemas.openxmlformats.org/drawingml/2006/main">
              <a:ext uri="{FF2B5EF4-FFF2-40B4-BE49-F238E27FC236}">
                <a16:creationId xmlns:a16="http://schemas.microsoft.com/office/drawing/2014/main" id="{EBC72E0A-BA76-4C4C-ADD0-57BEABC68935}"/>
              </a:ext>
            </a:extLst>
          </p:cNvPr>
          <p:cNvPicPr>
            <a:picLocks xmlns:a="http://schemas.openxmlformats.org/drawingml/2006/main" noChangeAspect="1"/>
          </p:cNvPicPr>
          <p:nvPr/>
        </p:nvPicPr>
        <p:blipFill>
          <a:blip xmlns:r="http://schemas.openxmlformats.org/officeDocument/2006/relationships" xmlns:a="http://schemas.openxmlformats.org/drawingml/2006/main" r:embed="Rfc30fa56b42c4e6d"/>
          <a:stretch xmlns:a="http://schemas.openxmlformats.org/drawingml/2006/main"/>
        </p:blipFill>
        <p:spPr>
          <a:xfrm xmlns:a="http://schemas.openxmlformats.org/drawingml/2006/main">
            <a:off x="957243" y="1457325"/>
            <a:ext cx="10277515"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618589C-A439-4327-98AA-A1783C90CC25}"/>
              </a:ext>
            </a:extLst>
          </p:cNvPr>
          <p:cNvSpPr>
            <a:spLocks xmlns:a="http://schemas.openxmlformats.org/drawingml/2006/main" noGrp="1"/>
          </p:cNvSpPr>
          <p:nvPr/>
        </p:nvSpPr>
        <p:spPr>
          <a:xfrm xmlns:a="http://schemas.openxmlformats.org/drawingml/2006/main">
            <a:off x="609600" y="5762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A71"/>
                </a:solidFill>
                <a:latin typeface="Arial"/>
                <a:ea typeface="Arial"/>
                <a:cs typeface="Arial"/>
              </a:defRPr>
            </a:defPPr>
          </a:lstStyle>
          <a:p xmlns:a="http://schemas.openxmlformats.org/drawingml/2006/main">
            <a:pPr>
              <a:defRPr sz="1725" b="0">
                <a:solidFill>
                  <a:srgbClr val="667A71"/>
                </a:solidFill>
                <a:latin typeface="Arial"/>
                <a:ea typeface="Arial"/>
                <a:cs typeface="Arial"/>
              </a:defRPr>
            </a:pPr>
            <a:r>
              <a:rPr sz="1725" b="0">
                <a:solidFill>
                  <a:srgbClr val="667A71"/>
                </a:solidFill>
                <a:latin typeface="Arial"/>
                <a:ea typeface="Arial"/>
                <a:cs typeface="Arial"/>
              </a:rPr>
              <a:t>The input gate checks freshness, spacing, completeness and supported ranges before inference.</a:t>
            </a:r>
          </a:p>
        </p:txBody>
      </p:sp>
    </p:spTree>
    <p:extLst>
      <p:ext uri="{BB962C8B-B14F-4D97-AF65-F5344CB8AC3E}">
        <p14:creationId xmlns:p14="http://schemas.microsoft.com/office/powerpoint/2010/main" val="900939420"/>
      </p:ext>
    </p:extLst>
  </p:cSld>
</p:sld>
</file>

<file path=ppt/slides/slide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0A7478-B342-46AC-B5EB-4474EF3921EE}"/>
              </a:ext>
            </a:extLst>
          </p:cNvPr>
          <p:cNvSpPr>
            <a:spLocks xmlns:a="http://schemas.openxmlformats.org/drawingml/2006/main" noGrp="1"/>
          </p:cNvSpPr>
          <p:nvPr/>
        </p:nvSpPr>
        <p:spPr>
          <a:xfrm xmlns:a="http://schemas.openxmlformats.org/drawingml/2006/main">
            <a:off x="609600" y="476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62D"/>
                </a:solidFill>
                <a:latin typeface="Arial"/>
                <a:ea typeface="Arial"/>
                <a:cs typeface="Arial"/>
              </a:defRPr>
            </a:defPPr>
          </a:lstStyle>
          <a:p xmlns:a="http://schemas.openxmlformats.org/drawingml/2006/main">
            <a:pPr>
              <a:defRPr sz="3150" b="1">
                <a:solidFill>
                  <a:srgbClr val="17362D"/>
                </a:solidFill>
                <a:latin typeface="Arial"/>
                <a:ea typeface="Arial"/>
                <a:cs typeface="Arial"/>
              </a:defRPr>
            </a:pPr>
            <a:r>
              <a:rPr sz="3150" b="1">
                <a:solidFill>
                  <a:srgbClr val="17362D"/>
                </a:solidFill>
                <a:latin typeface="Arial"/>
                <a:ea typeface="Arial"/>
                <a:cs typeface="Arial"/>
              </a:rPr>
              <a:t>Scenario comparison exposes model sensitivity</a:t>
            </a:r>
          </a:p>
        </p:txBody>
      </p:sp>
      <p:sp>
        <p:nvSpPr>
          <p:cNvPr id="2" name="">
            <a:extLst xmlns:a="http://schemas.openxmlformats.org/drawingml/2006/main">
              <a:ext uri="{FF2B5EF4-FFF2-40B4-BE49-F238E27FC236}">
                <a16:creationId xmlns:a16="http://schemas.microsoft.com/office/drawing/2014/main" id="{BDC1CAAF-11A3-45A9-95C7-2F7C405180A5}"/>
              </a:ext>
            </a:extLst>
          </p:cNvPr>
          <p:cNvSpPr>
            <a:spLocks xmlns:a="http://schemas.openxmlformats.org/drawingml/2006/main" noGrp="1"/>
          </p:cNvSpPr>
          <p:nvPr/>
        </p:nvSpPr>
        <p:spPr>
          <a:xfrm xmlns:a="http://schemas.openxmlformats.org/drawingml/2006/main">
            <a:off x="609600" y="63246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A71"/>
                </a:solidFill>
                <a:latin typeface="Arial"/>
                <a:ea typeface="Arial"/>
                <a:cs typeface="Arial"/>
              </a:defRPr>
            </a:defPPr>
          </a:lstStyle>
          <a:p xmlns:a="http://schemas.openxmlformats.org/drawingml/2006/main">
            <a:pPr>
              <a:defRPr sz="900" b="0">
                <a:solidFill>
                  <a:srgbClr val="667A71"/>
                </a:solidFill>
                <a:latin typeface="Arial"/>
                <a:ea typeface="Arial"/>
                <a:cs typeface="Arial"/>
              </a:defRPr>
            </a:pPr>
            <a:r>
              <a:rPr sz="900" b="0">
                <a:solidFill>
                  <a:srgbClr val="667A71"/>
                </a:solidFill>
                <a:latin typeface="Arial"/>
                <a:ea typeface="Arial"/>
                <a:cs typeface="Arial"/>
              </a:rPr>
              <a:t>GLYRA  /  RESEARCH PROTOTYPE</a:t>
            </a:r>
          </a:p>
        </p:txBody>
      </p:sp>
      <p:sp>
        <p:nvSpPr>
          <p:cNvPr id="3" name="">
            <a:extLst xmlns:a="http://schemas.openxmlformats.org/drawingml/2006/main">
              <a:ext uri="{FF2B5EF4-FFF2-40B4-BE49-F238E27FC236}">
                <a16:creationId xmlns:a16="http://schemas.microsoft.com/office/drawing/2014/main" id="{71928571-56CD-4D24-BF21-108DFB3C9C48}"/>
              </a:ext>
            </a:extLst>
          </p:cNvPr>
          <p:cNvSpPr>
            <a:spLocks xmlns:a="http://schemas.openxmlformats.org/drawingml/2006/main" noGrp="1"/>
          </p:cNvSpPr>
          <p:nvPr/>
        </p:nvSpPr>
        <p:spPr>
          <a:xfrm xmlns:a="http://schemas.openxmlformats.org/drawingml/2006/main">
            <a:off x="11172825" y="63055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67A71"/>
                </a:solidFill>
                <a:latin typeface="Arial"/>
                <a:ea typeface="Arial"/>
                <a:cs typeface="Arial"/>
              </a:defRPr>
            </a:defPPr>
          </a:lstStyle>
          <a:p xmlns:a="http://schemas.openxmlformats.org/drawingml/2006/main">
            <a:pPr>
              <a:defRPr sz="975" b="0">
                <a:solidFill>
                  <a:srgbClr val="667A71"/>
                </a:solidFill>
                <a:latin typeface="Arial"/>
                <a:ea typeface="Arial"/>
                <a:cs typeface="Arial"/>
              </a:defRPr>
            </a:pPr>
            <a:r>
              <a:rPr sz="975" b="0">
                <a:solidFill>
                  <a:srgbClr val="667A71"/>
                </a:solidFill>
                <a:latin typeface="Arial"/>
                <a:ea typeface="Arial"/>
                <a:cs typeface="Arial"/>
              </a:rPr>
              <a:t>09</a:t>
            </a:r>
          </a:p>
        </p:txBody>
      </p:sp>
      <p:pic>
        <p:nvPicPr>
          <p:cNvPr id="4" name="">
            <a:extLst xmlns:a="http://schemas.openxmlformats.org/drawingml/2006/main">
              <a:ext uri="{FF2B5EF4-FFF2-40B4-BE49-F238E27FC236}">
                <a16:creationId xmlns:a16="http://schemas.microsoft.com/office/drawing/2014/main" id="{E883920E-54AB-44C5-BCAA-0F77BD50CF3E}"/>
              </a:ext>
            </a:extLst>
          </p:cNvPr>
          <p:cNvPicPr>
            <a:picLocks xmlns:a="http://schemas.openxmlformats.org/drawingml/2006/main" noChangeAspect="1"/>
          </p:cNvPicPr>
          <p:nvPr/>
        </p:nvPicPr>
        <p:blipFill>
          <a:blip xmlns:r="http://schemas.openxmlformats.org/officeDocument/2006/relationships" xmlns:a="http://schemas.openxmlformats.org/drawingml/2006/main" r:embed="R972ce3c2f8014e59"/>
          <a:stretch xmlns:a="http://schemas.openxmlformats.org/drawingml/2006/main"/>
        </p:blipFill>
        <p:spPr>
          <a:xfrm xmlns:a="http://schemas.openxmlformats.org/drawingml/2006/main">
            <a:off x="5905500" y="1570700"/>
            <a:ext cx="5562600" cy="42404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9A0EECD-DB04-4619-86A5-4CDFC40DA895}"/>
              </a:ext>
            </a:extLst>
          </p:cNvPr>
          <p:cNvSpPr>
            <a:spLocks xmlns:a="http://schemas.openxmlformats.org/drawingml/2006/main" noGrp="1"/>
          </p:cNvSpPr>
          <p:nvPr/>
        </p:nvSpPr>
        <p:spPr>
          <a:xfrm xmlns:a="http://schemas.openxmlformats.org/drawingml/2006/main">
            <a:off x="609600" y="1924050"/>
            <a:ext cx="4619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62D"/>
                </a:solidFill>
                <a:latin typeface="Arial"/>
                <a:ea typeface="Arial"/>
                <a:cs typeface="Arial"/>
              </a:defRPr>
            </a:defPPr>
          </a:lstStyle>
          <a:p xmlns:a="http://schemas.openxmlformats.org/drawingml/2006/main">
            <a:pPr>
              <a:defRPr sz="2250" b="1">
                <a:solidFill>
                  <a:srgbClr val="17362D"/>
                </a:solidFill>
                <a:latin typeface="Arial"/>
                <a:ea typeface="Arial"/>
                <a:cs typeface="Arial"/>
              </a:defRPr>
            </a:pPr>
            <a:r>
              <a:rPr sz="2250" b="1">
                <a:solidFill>
                  <a:srgbClr val="17362D"/>
                </a:solidFill>
                <a:latin typeface="Arial"/>
                <a:ea typeface="Arial"/>
                <a:cs typeface="Arial"/>
              </a:rPr>
              <a:t>A reviewer can adjust synthetic sleep or activity while holding the glucose history fixed.</a:t>
            </a:r>
          </a:p>
        </p:txBody>
      </p:sp>
      <p:sp>
        <p:nvSpPr>
          <p:cNvPr id="6" name="">
            <a:extLst xmlns:a="http://schemas.openxmlformats.org/drawingml/2006/main">
              <a:ext uri="{FF2B5EF4-FFF2-40B4-BE49-F238E27FC236}">
                <a16:creationId xmlns:a16="http://schemas.microsoft.com/office/drawing/2014/main" id="{4DCC50DD-8483-471C-8B79-FCDD7D5D160E}"/>
              </a:ext>
            </a:extLst>
          </p:cNvPr>
          <p:cNvSpPr>
            <a:spLocks xmlns:a="http://schemas.openxmlformats.org/drawingml/2006/main" noGrp="1"/>
          </p:cNvSpPr>
          <p:nvPr/>
        </p:nvSpPr>
        <p:spPr>
          <a:xfrm xmlns:a="http://schemas.openxmlformats.org/drawingml/2006/main">
            <a:off x="609600" y="3714750"/>
            <a:ext cx="461962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67A71"/>
                </a:solidFill>
                <a:latin typeface="Arial"/>
                <a:ea typeface="Arial"/>
                <a:cs typeface="Arial"/>
              </a:defRPr>
            </a:defPPr>
          </a:lstStyle>
          <a:p xmlns:a="http://schemas.openxmlformats.org/drawingml/2006/main">
            <a:pPr>
              <a:defRPr sz="2025" b="0">
                <a:solidFill>
                  <a:srgbClr val="667A71"/>
                </a:solidFill>
                <a:latin typeface="Arial"/>
                <a:ea typeface="Arial"/>
                <a:cs typeface="Arial"/>
              </a:defRPr>
            </a:pPr>
            <a:r>
              <a:rPr sz="2025" b="0">
                <a:solidFill>
                  <a:srgbClr val="667A71"/>
                </a:solidFill>
                <a:latin typeface="Arial"/>
                <a:ea typeface="Arial"/>
                <a:cs typeface="Arial"/>
              </a:rPr>
              <a:t>The resulting difference describes the model. It does not establish what an intervention would do for a patient.</a:t>
            </a:r>
          </a:p>
        </p:txBody>
      </p:sp>
    </p:spTree>
    <p:extLst>
      <p:ext uri="{BB962C8B-B14F-4D97-AF65-F5344CB8AC3E}">
        <p14:creationId xmlns:p14="http://schemas.microsoft.com/office/powerpoint/2010/main" val="2055438790"/>
      </p:ext>
    </p:extLst>
  </p:cSld>
</p:sld>
</file>

<file path=ppt/slides/slide1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8A35C5-B428-40F7-94C7-8B52BF9E198C}"/>
              </a:ext>
            </a:extLst>
          </p:cNvPr>
          <p:cNvSpPr>
            <a:spLocks xmlns:a="http://schemas.openxmlformats.org/drawingml/2006/main" noGrp="1"/>
          </p:cNvSpPr>
          <p:nvPr/>
        </p:nvSpPr>
        <p:spPr>
          <a:xfrm xmlns:a="http://schemas.openxmlformats.org/drawingml/2006/main">
            <a:off x="609600" y="476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62D"/>
                </a:solidFill>
                <a:latin typeface="Arial"/>
                <a:ea typeface="Arial"/>
                <a:cs typeface="Arial"/>
              </a:defRPr>
            </a:defPPr>
          </a:lstStyle>
          <a:p xmlns:a="http://schemas.openxmlformats.org/drawingml/2006/main">
            <a:pPr>
              <a:defRPr sz="3150" b="1">
                <a:solidFill>
                  <a:srgbClr val="17362D"/>
                </a:solidFill>
                <a:latin typeface="Arial"/>
                <a:ea typeface="Arial"/>
                <a:cs typeface="Arial"/>
              </a:defRPr>
            </a:pPr>
            <a:r>
              <a:rPr sz="3150" b="1">
                <a:solidFill>
                  <a:srgbClr val="17362D"/>
                </a:solidFill>
                <a:latin typeface="Arial"/>
                <a:ea typeface="Arial"/>
                <a:cs typeface="Arial"/>
              </a:rPr>
              <a:t>Limitations and failure cases</a:t>
            </a:r>
          </a:p>
        </p:txBody>
      </p:sp>
      <p:sp>
        <p:nvSpPr>
          <p:cNvPr id="2" name="">
            <a:extLst xmlns:a="http://schemas.openxmlformats.org/drawingml/2006/main">
              <a:ext uri="{FF2B5EF4-FFF2-40B4-BE49-F238E27FC236}">
                <a16:creationId xmlns:a16="http://schemas.microsoft.com/office/drawing/2014/main" id="{5E46166B-302D-46E0-8B8A-63DCC0E346A5}"/>
              </a:ext>
            </a:extLst>
          </p:cNvPr>
          <p:cNvSpPr>
            <a:spLocks xmlns:a="http://schemas.openxmlformats.org/drawingml/2006/main" noGrp="1"/>
          </p:cNvSpPr>
          <p:nvPr/>
        </p:nvSpPr>
        <p:spPr>
          <a:xfrm xmlns:a="http://schemas.openxmlformats.org/drawingml/2006/main">
            <a:off x="609600" y="63246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A71"/>
                </a:solidFill>
                <a:latin typeface="Arial"/>
                <a:ea typeface="Arial"/>
                <a:cs typeface="Arial"/>
              </a:defRPr>
            </a:defPPr>
          </a:lstStyle>
          <a:p xmlns:a="http://schemas.openxmlformats.org/drawingml/2006/main">
            <a:pPr>
              <a:defRPr sz="900" b="0">
                <a:solidFill>
                  <a:srgbClr val="667A71"/>
                </a:solidFill>
                <a:latin typeface="Arial"/>
                <a:ea typeface="Arial"/>
                <a:cs typeface="Arial"/>
              </a:defRPr>
            </a:pPr>
            <a:r>
              <a:rPr sz="900" b="0">
                <a:solidFill>
                  <a:srgbClr val="667A71"/>
                </a:solidFill>
                <a:latin typeface="Arial"/>
                <a:ea typeface="Arial"/>
                <a:cs typeface="Arial"/>
              </a:rPr>
              <a:t>GLYRA  /  RESEARCH PROTOTYPE</a:t>
            </a:r>
          </a:p>
        </p:txBody>
      </p:sp>
      <p:sp>
        <p:nvSpPr>
          <p:cNvPr id="3" name="">
            <a:extLst xmlns:a="http://schemas.openxmlformats.org/drawingml/2006/main">
              <a:ext uri="{FF2B5EF4-FFF2-40B4-BE49-F238E27FC236}">
                <a16:creationId xmlns:a16="http://schemas.microsoft.com/office/drawing/2014/main" id="{F67902DF-0FCD-47C5-98EB-DCA5F60C662B}"/>
              </a:ext>
            </a:extLst>
          </p:cNvPr>
          <p:cNvSpPr>
            <a:spLocks xmlns:a="http://schemas.openxmlformats.org/drawingml/2006/main" noGrp="1"/>
          </p:cNvSpPr>
          <p:nvPr/>
        </p:nvSpPr>
        <p:spPr>
          <a:xfrm xmlns:a="http://schemas.openxmlformats.org/drawingml/2006/main">
            <a:off x="11172825" y="63055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67A71"/>
                </a:solidFill>
                <a:latin typeface="Arial"/>
                <a:ea typeface="Arial"/>
                <a:cs typeface="Arial"/>
              </a:defRPr>
            </a:defPPr>
          </a:lstStyle>
          <a:p xmlns:a="http://schemas.openxmlformats.org/drawingml/2006/main">
            <a:pPr>
              <a:defRPr sz="975" b="0">
                <a:solidFill>
                  <a:srgbClr val="667A71"/>
                </a:solidFill>
                <a:latin typeface="Arial"/>
                <a:ea typeface="Arial"/>
                <a:cs typeface="Arial"/>
              </a:defRPr>
            </a:pPr>
            <a:r>
              <a:rPr sz="975" b="0">
                <a:solidFill>
                  <a:srgbClr val="667A71"/>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C51AEC4-AAC5-439A-98EB-1D76FD6A0668}"/>
              </a:ext>
            </a:extLst>
          </p:cNvPr>
          <p:cNvSpPr>
            <a:spLocks xmlns:a="http://schemas.openxmlformats.org/drawingml/2006/main" noGrp="1"/>
          </p:cNvSpPr>
          <p:nvPr/>
        </p:nvSpPr>
        <p:spPr>
          <a:xfrm xmlns:a="http://schemas.openxmlformats.org/drawingml/2006/main">
            <a:off x="609600" y="16192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2D"/>
                </a:solidFill>
                <a:latin typeface="Arial"/>
                <a:ea typeface="Arial"/>
                <a:cs typeface="Arial"/>
              </a:defRPr>
            </a:defPPr>
          </a:lstStyle>
          <a:p xmlns:a="http://schemas.openxmlformats.org/drawingml/2006/main">
            <a:pPr>
              <a:defRPr sz="1950" b="1">
                <a:solidFill>
                  <a:srgbClr val="17362D"/>
                </a:solidFill>
                <a:latin typeface="Arial"/>
                <a:ea typeface="Arial"/>
                <a:cs typeface="Arial"/>
              </a:defRPr>
            </a:pPr>
            <a:r>
              <a:rPr sz="1950" b="1">
                <a:solidFill>
                  <a:srgbClr val="17362D"/>
                </a:solidFill>
                <a:latin typeface="Arial"/>
                <a:ea typeface="Arial"/>
                <a:cs typeface="Arial"/>
              </a:rPr>
              <a:t>Unknown future events</a:t>
            </a:r>
          </a:p>
        </p:txBody>
      </p:sp>
      <p:sp>
        <p:nvSpPr>
          <p:cNvPr id="5" name="">
            <a:extLst xmlns:a="http://schemas.openxmlformats.org/drawingml/2006/main">
              <a:ext uri="{FF2B5EF4-FFF2-40B4-BE49-F238E27FC236}">
                <a16:creationId xmlns:a16="http://schemas.microsoft.com/office/drawing/2014/main" id="{508DCD20-DA3A-4F96-9ED2-C5D734505222}"/>
              </a:ext>
            </a:extLst>
          </p:cNvPr>
          <p:cNvSpPr>
            <a:spLocks xmlns:a="http://schemas.openxmlformats.org/drawingml/2006/main" noGrp="1"/>
          </p:cNvSpPr>
          <p:nvPr/>
        </p:nvSpPr>
        <p:spPr>
          <a:xfrm xmlns:a="http://schemas.openxmlformats.org/drawingml/2006/main">
            <a:off x="609600" y="2171700"/>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A71"/>
                </a:solidFill>
                <a:latin typeface="Arial"/>
                <a:ea typeface="Arial"/>
                <a:cs typeface="Arial"/>
              </a:defRPr>
            </a:defPPr>
          </a:lstStyle>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An unlogged meal can change glucose after the forecast. A wide interval cannot make an unseen event predictable.</a:t>
            </a:r>
          </a:p>
        </p:txBody>
      </p:sp>
      <p:sp>
        <p:nvSpPr>
          <p:cNvPr id="6" name="">
            <a:extLst xmlns:a="http://schemas.openxmlformats.org/drawingml/2006/main">
              <a:ext uri="{FF2B5EF4-FFF2-40B4-BE49-F238E27FC236}">
                <a16:creationId xmlns:a16="http://schemas.microsoft.com/office/drawing/2014/main" id="{00587C3E-16DB-4B90-A064-BE4A1A8EB02D}"/>
              </a:ext>
            </a:extLst>
          </p:cNvPr>
          <p:cNvSpPr>
            <a:spLocks xmlns:a="http://schemas.openxmlformats.org/drawingml/2006/main" noGrp="1"/>
          </p:cNvSpPr>
          <p:nvPr/>
        </p:nvSpPr>
        <p:spPr>
          <a:xfrm xmlns:a="http://schemas.openxmlformats.org/drawingml/2006/main">
            <a:off x="6496050" y="16192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2D"/>
                </a:solidFill>
                <a:latin typeface="Arial"/>
                <a:ea typeface="Arial"/>
                <a:cs typeface="Arial"/>
              </a:defRPr>
            </a:defPPr>
          </a:lstStyle>
          <a:p xmlns:a="http://schemas.openxmlformats.org/drawingml/2006/main">
            <a:pPr>
              <a:defRPr sz="1950" b="1">
                <a:solidFill>
                  <a:srgbClr val="17362D"/>
                </a:solidFill>
                <a:latin typeface="Arial"/>
                <a:ea typeface="Arial"/>
                <a:cs typeface="Arial"/>
              </a:defRPr>
            </a:pPr>
            <a:r>
              <a:rPr sz="1950" b="1">
                <a:solidFill>
                  <a:srgbClr val="17362D"/>
                </a:solidFill>
                <a:latin typeface="Arial"/>
                <a:ea typeface="Arial"/>
                <a:cs typeface="Arial"/>
              </a:rPr>
              <a:t>Synthetic evidence only</a:t>
            </a:r>
          </a:p>
        </p:txBody>
      </p:sp>
      <p:sp>
        <p:nvSpPr>
          <p:cNvPr id="7" name="">
            <a:extLst xmlns:a="http://schemas.openxmlformats.org/drawingml/2006/main">
              <a:ext uri="{FF2B5EF4-FFF2-40B4-BE49-F238E27FC236}">
                <a16:creationId xmlns:a16="http://schemas.microsoft.com/office/drawing/2014/main" id="{8E5D324F-B343-4F4D-B9A8-8D50CB649D53}"/>
              </a:ext>
            </a:extLst>
          </p:cNvPr>
          <p:cNvSpPr>
            <a:spLocks xmlns:a="http://schemas.openxmlformats.org/drawingml/2006/main" noGrp="1"/>
          </p:cNvSpPr>
          <p:nvPr/>
        </p:nvSpPr>
        <p:spPr>
          <a:xfrm xmlns:a="http://schemas.openxmlformats.org/drawingml/2006/main">
            <a:off x="6496050" y="2171700"/>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A71"/>
                </a:solidFill>
                <a:latin typeface="Arial"/>
                <a:ea typeface="Arial"/>
                <a:cs typeface="Arial"/>
              </a:defRPr>
            </a:defPPr>
          </a:lstStyle>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The generator simplifies physiology. No real patient evaluation, external validation, diagnosis or dosing capability is claimed.</a:t>
            </a:r>
          </a:p>
        </p:txBody>
      </p:sp>
      <p:sp>
        <p:nvSpPr>
          <p:cNvPr id="8" name="">
            <a:extLst xmlns:a="http://schemas.openxmlformats.org/drawingml/2006/main">
              <a:ext uri="{FF2B5EF4-FFF2-40B4-BE49-F238E27FC236}">
                <a16:creationId xmlns:a16="http://schemas.microsoft.com/office/drawing/2014/main" id="{15DC5F4E-BE8B-481B-8E9B-DBF0D27EE45B}"/>
              </a:ext>
            </a:extLst>
          </p:cNvPr>
          <p:cNvSpPr>
            <a:spLocks xmlns:a="http://schemas.openxmlformats.org/drawingml/2006/main" noGrp="1"/>
          </p:cNvSpPr>
          <p:nvPr/>
        </p:nvSpPr>
        <p:spPr>
          <a:xfrm xmlns:a="http://schemas.openxmlformats.org/drawingml/2006/main">
            <a:off x="609600" y="46672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735B"/>
                </a:solidFill>
                <a:latin typeface="Arial"/>
                <a:ea typeface="Arial"/>
                <a:cs typeface="Arial"/>
              </a:defRPr>
            </a:defPPr>
          </a:lstStyle>
          <a:p xmlns:a="http://schemas.openxmlformats.org/drawingml/2006/main">
            <a:pPr>
              <a:defRPr sz="2175" b="0">
                <a:solidFill>
                  <a:srgbClr val="14735B"/>
                </a:solidFill>
                <a:latin typeface="Arial"/>
                <a:ea typeface="Arial"/>
                <a:cs typeface="Arial"/>
              </a:defRPr>
            </a:pPr>
            <a:r>
              <a:rPr sz="2175" b="0">
                <a:solidFill>
                  <a:srgbClr val="14735B"/>
                </a:solidFill>
                <a:latin typeface="Arial"/>
                <a:ea typeface="Arial"/>
                <a:cs typeface="Arial"/>
              </a:rPr>
              <a:t>Next evidence: independent retrospective testing and clinician usability review, with appropriately governed data.</a:t>
            </a:r>
          </a:p>
        </p:txBody>
      </p:sp>
    </p:spTree>
    <p:extLst>
      <p:ext uri="{BB962C8B-B14F-4D97-AF65-F5344CB8AC3E}">
        <p14:creationId xmlns:p14="http://schemas.microsoft.com/office/powerpoint/2010/main" val="1881320061"/>
      </p:ext>
    </p:extLst>
  </p:cSld>
</p:sld>
</file>

<file path=ppt/slides/slide1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45B399-34F0-4DED-A372-5D0C2F71F7C3}"/>
              </a:ext>
            </a:extLst>
          </p:cNvPr>
          <p:cNvSpPr>
            <a:spLocks xmlns:a="http://schemas.openxmlformats.org/drawingml/2006/main" noGrp="1"/>
          </p:cNvSpPr>
          <p:nvPr/>
        </p:nvSpPr>
        <p:spPr>
          <a:xfrm xmlns:a="http://schemas.openxmlformats.org/drawingml/2006/main">
            <a:off x="609600" y="476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62D"/>
                </a:solidFill>
                <a:latin typeface="Arial"/>
                <a:ea typeface="Arial"/>
                <a:cs typeface="Arial"/>
              </a:defRPr>
            </a:defPPr>
          </a:lstStyle>
          <a:p xmlns:a="http://schemas.openxmlformats.org/drawingml/2006/main">
            <a:pPr>
              <a:defRPr sz="3150" b="1">
                <a:solidFill>
                  <a:srgbClr val="17362D"/>
                </a:solidFill>
                <a:latin typeface="Arial"/>
                <a:ea typeface="Arial"/>
                <a:cs typeface="Arial"/>
              </a:defRPr>
            </a:pPr>
            <a:r>
              <a:rPr sz="3150" b="1">
                <a:solidFill>
                  <a:srgbClr val="17362D"/>
                </a:solidFill>
                <a:latin typeface="Arial"/>
                <a:ea typeface="Arial"/>
                <a:cs typeface="Arial"/>
              </a:rPr>
              <a:t>Impact, adoption and implementation roadmap</a:t>
            </a:r>
          </a:p>
        </p:txBody>
      </p:sp>
      <p:sp>
        <p:nvSpPr>
          <p:cNvPr id="2" name="">
            <a:extLst xmlns:a="http://schemas.openxmlformats.org/drawingml/2006/main">
              <a:ext uri="{FF2B5EF4-FFF2-40B4-BE49-F238E27FC236}">
                <a16:creationId xmlns:a16="http://schemas.microsoft.com/office/drawing/2014/main" id="{B23601FE-8894-460F-9214-943879204D0F}"/>
              </a:ext>
            </a:extLst>
          </p:cNvPr>
          <p:cNvSpPr>
            <a:spLocks xmlns:a="http://schemas.openxmlformats.org/drawingml/2006/main" noGrp="1"/>
          </p:cNvSpPr>
          <p:nvPr/>
        </p:nvSpPr>
        <p:spPr>
          <a:xfrm xmlns:a="http://schemas.openxmlformats.org/drawingml/2006/main">
            <a:off x="609600" y="63246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A71"/>
                </a:solidFill>
                <a:latin typeface="Arial"/>
                <a:ea typeface="Arial"/>
                <a:cs typeface="Arial"/>
              </a:defRPr>
            </a:defPPr>
          </a:lstStyle>
          <a:p xmlns:a="http://schemas.openxmlformats.org/drawingml/2006/main">
            <a:pPr>
              <a:defRPr sz="900" b="0">
                <a:solidFill>
                  <a:srgbClr val="667A71"/>
                </a:solidFill>
                <a:latin typeface="Arial"/>
                <a:ea typeface="Arial"/>
                <a:cs typeface="Arial"/>
              </a:defRPr>
            </a:pPr>
            <a:r>
              <a:rPr sz="900" b="0">
                <a:solidFill>
                  <a:srgbClr val="667A71"/>
                </a:solidFill>
                <a:latin typeface="Arial"/>
                <a:ea typeface="Arial"/>
                <a:cs typeface="Arial"/>
              </a:rPr>
              <a:t>GLYRA  /  RESEARCH PROTOTYPE</a:t>
            </a:r>
          </a:p>
        </p:txBody>
      </p:sp>
      <p:sp>
        <p:nvSpPr>
          <p:cNvPr id="3" name="">
            <a:extLst xmlns:a="http://schemas.openxmlformats.org/drawingml/2006/main">
              <a:ext uri="{FF2B5EF4-FFF2-40B4-BE49-F238E27FC236}">
                <a16:creationId xmlns:a16="http://schemas.microsoft.com/office/drawing/2014/main" id="{D4E7F18D-80FC-4B02-8144-50C785E034EB}"/>
              </a:ext>
            </a:extLst>
          </p:cNvPr>
          <p:cNvSpPr>
            <a:spLocks xmlns:a="http://schemas.openxmlformats.org/drawingml/2006/main" noGrp="1"/>
          </p:cNvSpPr>
          <p:nvPr/>
        </p:nvSpPr>
        <p:spPr>
          <a:xfrm xmlns:a="http://schemas.openxmlformats.org/drawingml/2006/main">
            <a:off x="11172825" y="63055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67A71"/>
                </a:solidFill>
                <a:latin typeface="Arial"/>
                <a:ea typeface="Arial"/>
                <a:cs typeface="Arial"/>
              </a:defRPr>
            </a:defPPr>
          </a:lstStyle>
          <a:p xmlns:a="http://schemas.openxmlformats.org/drawingml/2006/main">
            <a:pPr>
              <a:defRPr sz="975" b="0">
                <a:solidFill>
                  <a:srgbClr val="667A71"/>
                </a:solidFill>
                <a:latin typeface="Arial"/>
                <a:ea typeface="Arial"/>
                <a:cs typeface="Arial"/>
              </a:defRPr>
            </a:pPr>
            <a:r>
              <a:rPr sz="975" b="0">
                <a:solidFill>
                  <a:srgbClr val="667A71"/>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8E42ACCD-5046-4E21-BB87-907B253FB2C3}"/>
              </a:ext>
            </a:extLst>
          </p:cNvPr>
          <p:cNvSpPr>
            <a:spLocks xmlns:a="http://schemas.openxmlformats.org/drawingml/2006/main" noGrp="1"/>
          </p:cNvSpPr>
          <p:nvPr/>
        </p:nvSpPr>
        <p:spPr>
          <a:xfrm xmlns:a="http://schemas.openxmlformats.org/drawingml/2006/main">
            <a:off x="609600" y="16192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2D"/>
                </a:solidFill>
                <a:latin typeface="Arial"/>
                <a:ea typeface="Arial"/>
                <a:cs typeface="Arial"/>
              </a:defRPr>
            </a:defPPr>
          </a:lstStyle>
          <a:p xmlns:a="http://schemas.openxmlformats.org/drawingml/2006/main">
            <a:pPr>
              <a:defRPr sz="1950" b="1">
                <a:solidFill>
                  <a:srgbClr val="17362D"/>
                </a:solidFill>
                <a:latin typeface="Arial"/>
                <a:ea typeface="Arial"/>
                <a:cs typeface="Arial"/>
              </a:defRPr>
            </a:pPr>
            <a:r>
              <a:rPr sz="1950" b="1">
                <a:solidFill>
                  <a:srgbClr val="17362D"/>
                </a:solidFill>
                <a:latin typeface="Arial"/>
                <a:ea typeface="Arial"/>
                <a:cs typeface="Arial"/>
              </a:rPr>
              <a:t>Intended practical value</a:t>
            </a:r>
          </a:p>
        </p:txBody>
      </p:sp>
      <p:sp>
        <p:nvSpPr>
          <p:cNvPr id="5" name="">
            <a:extLst xmlns:a="http://schemas.openxmlformats.org/drawingml/2006/main">
              <a:ext uri="{FF2B5EF4-FFF2-40B4-BE49-F238E27FC236}">
                <a16:creationId xmlns:a16="http://schemas.microsoft.com/office/drawing/2014/main" id="{8D044C92-6B28-4510-94B4-85D771656A06}"/>
              </a:ext>
            </a:extLst>
          </p:cNvPr>
          <p:cNvSpPr>
            <a:spLocks xmlns:a="http://schemas.openxmlformats.org/drawingml/2006/main" noGrp="1"/>
          </p:cNvSpPr>
          <p:nvPr/>
        </p:nvSpPr>
        <p:spPr>
          <a:xfrm xmlns:a="http://schemas.openxmlformats.org/drawingml/2006/main">
            <a:off x="609600" y="2171700"/>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A71"/>
                </a:solidFill>
                <a:latin typeface="Arial"/>
                <a:ea typeface="Arial"/>
                <a:cs typeface="Arial"/>
              </a:defRPr>
            </a:defPPr>
          </a:lstStyle>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A review workflow could reduce the effort of reconstructing context across separate records. This remains a usability hypothesis.</a:t>
            </a:r>
          </a:p>
        </p:txBody>
      </p:sp>
      <p:sp>
        <p:nvSpPr>
          <p:cNvPr id="6" name="">
            <a:extLst xmlns:a="http://schemas.openxmlformats.org/drawingml/2006/main">
              <a:ext uri="{FF2B5EF4-FFF2-40B4-BE49-F238E27FC236}">
                <a16:creationId xmlns:a16="http://schemas.microsoft.com/office/drawing/2014/main" id="{CF742D9F-5783-43B1-96AC-1C5F209BE340}"/>
              </a:ext>
            </a:extLst>
          </p:cNvPr>
          <p:cNvSpPr>
            <a:spLocks xmlns:a="http://schemas.openxmlformats.org/drawingml/2006/main" noGrp="1"/>
          </p:cNvSpPr>
          <p:nvPr/>
        </p:nvSpPr>
        <p:spPr>
          <a:xfrm xmlns:a="http://schemas.openxmlformats.org/drawingml/2006/main">
            <a:off x="6496050" y="16192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62D"/>
                </a:solidFill>
                <a:latin typeface="Arial"/>
                <a:ea typeface="Arial"/>
                <a:cs typeface="Arial"/>
              </a:defRPr>
            </a:defPPr>
          </a:lstStyle>
          <a:p xmlns:a="http://schemas.openxmlformats.org/drawingml/2006/main">
            <a:pPr>
              <a:defRPr sz="1950" b="1">
                <a:solidFill>
                  <a:srgbClr val="17362D"/>
                </a:solidFill>
                <a:latin typeface="Arial"/>
                <a:ea typeface="Arial"/>
                <a:cs typeface="Arial"/>
              </a:defRPr>
            </a:pPr>
            <a:r>
              <a:rPr sz="1950" b="1">
                <a:solidFill>
                  <a:srgbClr val="17362D"/>
                </a:solidFill>
                <a:latin typeface="Arial"/>
                <a:ea typeface="Arial"/>
                <a:cs typeface="Arial"/>
              </a:rPr>
              <a:t>Feasible next steps</a:t>
            </a:r>
          </a:p>
        </p:txBody>
      </p:sp>
      <p:sp>
        <p:nvSpPr>
          <p:cNvPr id="7" name="">
            <a:extLst xmlns:a="http://schemas.openxmlformats.org/drawingml/2006/main">
              <a:ext uri="{FF2B5EF4-FFF2-40B4-BE49-F238E27FC236}">
                <a16:creationId xmlns:a16="http://schemas.microsoft.com/office/drawing/2014/main" id="{F6211D87-7B8D-452D-A366-A945101DE5AA}"/>
              </a:ext>
            </a:extLst>
          </p:cNvPr>
          <p:cNvSpPr>
            <a:spLocks xmlns:a="http://schemas.openxmlformats.org/drawingml/2006/main" noGrp="1"/>
          </p:cNvSpPr>
          <p:nvPr/>
        </p:nvSpPr>
        <p:spPr>
          <a:xfrm xmlns:a="http://schemas.openxmlformats.org/drawingml/2006/main">
            <a:off x="6496050" y="2171700"/>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A71"/>
                </a:solidFill>
                <a:latin typeface="Arial"/>
                <a:ea typeface="Arial"/>
                <a:cs typeface="Arial"/>
              </a:defRPr>
            </a:defPPr>
          </a:lstStyle>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Clinician interviews and task testing</a:t>
            </a:r>
          </a:p>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Independent retrospective benchmark</a:t>
            </a:r>
          </a:p>
          <a:p xmlns:a="http://schemas.openxmlformats.org/drawingml/2006/main">
            <a:pPr>
              <a:defRPr sz="1800" b="0">
                <a:solidFill>
                  <a:srgbClr val="667A71"/>
                </a:solidFill>
                <a:latin typeface="Arial"/>
                <a:ea typeface="Arial"/>
                <a:cs typeface="Arial"/>
              </a:defRPr>
            </a:pPr>
            <a:r>
              <a:rPr sz="1800" b="0">
                <a:solidFill>
                  <a:srgbClr val="667A71"/>
                </a:solidFill>
                <a:latin typeface="Arial"/>
                <a:ea typeface="Arial"/>
                <a:cs typeface="Arial"/>
              </a:rPr>
              <a:t>A supervised research pilot</a:t>
            </a:r>
          </a:p>
        </p:txBody>
      </p:sp>
      <p:sp>
        <p:nvSpPr>
          <p:cNvPr id="8" name="">
            <a:extLst xmlns:a="http://schemas.openxmlformats.org/drawingml/2006/main">
              <a:ext uri="{FF2B5EF4-FFF2-40B4-BE49-F238E27FC236}">
                <a16:creationId xmlns:a16="http://schemas.microsoft.com/office/drawing/2014/main" id="{468864B7-F17D-4E62-8F4E-084DD5792207}"/>
              </a:ext>
            </a:extLst>
          </p:cNvPr>
          <p:cNvSpPr>
            <a:spLocks xmlns:a="http://schemas.openxmlformats.org/drawingml/2006/main" noGrp="1"/>
          </p:cNvSpPr>
          <p:nvPr/>
        </p:nvSpPr>
        <p:spPr>
          <a:xfrm xmlns:a="http://schemas.openxmlformats.org/drawingml/2006/main">
            <a:off x="609600" y="4619625"/>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735B"/>
                </a:solidFill>
                <a:latin typeface="Arial"/>
                <a:ea typeface="Arial"/>
                <a:cs typeface="Arial"/>
              </a:defRPr>
            </a:defPPr>
          </a:lstStyle>
          <a:p xmlns:a="http://schemas.openxmlformats.org/drawingml/2006/main">
            <a:pPr>
              <a:defRPr sz="2100" b="0">
                <a:solidFill>
                  <a:srgbClr val="14735B"/>
                </a:solidFill>
                <a:latin typeface="Arial"/>
                <a:ea typeface="Arial"/>
                <a:cs typeface="Arial"/>
              </a:defRPr>
            </a:pPr>
            <a:r>
              <a:rPr sz="2100" b="0">
                <a:solidFill>
                  <a:srgbClr val="14735B"/>
                </a:solidFill>
                <a:latin typeface="Arial"/>
                <a:ea typeface="Arial"/>
                <a:cs typeface="Arial"/>
              </a:rPr>
              <a:t>Business hypothesis: clinic subscription after validation. Pricing, demand, clinical outcomes and adoption are untested.</a:t>
            </a:r>
          </a:p>
        </p:txBody>
      </p:sp>
      <p:sp>
        <p:nvSpPr>
          <p:cNvPr id="9" name="">
            <a:extLst xmlns:a="http://schemas.openxmlformats.org/drawingml/2006/main">
              <a:ext uri="{FF2B5EF4-FFF2-40B4-BE49-F238E27FC236}">
                <a16:creationId xmlns:a16="http://schemas.microsoft.com/office/drawing/2014/main" id="{D32DE8DA-218C-44B1-B93D-865CCEADD292}"/>
              </a:ext>
            </a:extLst>
          </p:cNvPr>
          <p:cNvSpPr>
            <a:spLocks xmlns:a="http://schemas.openxmlformats.org/drawingml/2006/main" noGrp="1"/>
          </p:cNvSpPr>
          <p:nvPr/>
        </p:nvSpPr>
        <p:spPr>
          <a:xfrm xmlns:a="http://schemas.openxmlformats.org/drawingml/2006/main">
            <a:off x="609600" y="57150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A71"/>
                </a:solidFill>
                <a:latin typeface="Arial"/>
                <a:ea typeface="Arial"/>
                <a:cs typeface="Arial"/>
              </a:defRPr>
            </a:defPPr>
          </a:lstStyle>
          <a:p xmlns:a="http://schemas.openxmlformats.org/drawingml/2006/main">
            <a:pPr>
              <a:defRPr sz="1725" b="0">
                <a:solidFill>
                  <a:srgbClr val="667A71"/>
                </a:solidFill>
                <a:latin typeface="Arial"/>
                <a:ea typeface="Arial"/>
                <a:cs typeface="Arial"/>
              </a:defRPr>
            </a:pPr>
            <a:r>
              <a:rPr sz="1725" b="0">
                <a:solidFill>
                  <a:srgbClr val="667A71"/>
                </a:solidFill>
                <a:latin typeface="Arial"/>
                <a:ea typeface="Arial"/>
                <a:cs typeface="Arial"/>
              </a:rPr>
              <a:t>The current software works without hardware purchases, cloud inference or API credentials.</a:t>
            </a:r>
          </a:p>
        </p:txBody>
      </p:sp>
    </p:spTree>
    <p:extLst>
      <p:ext uri="{BB962C8B-B14F-4D97-AF65-F5344CB8AC3E}">
        <p14:creationId xmlns:p14="http://schemas.microsoft.com/office/powerpoint/2010/main" val="995461987"/>
      </p:ext>
    </p:extLst>
  </p:cSld>
</p:sld>
</file>

<file path=ppt/slides/slide1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12BEA2-5E95-4BB7-9FA5-5B1925FF5166}"/>
              </a:ext>
            </a:extLst>
          </p:cNvPr>
          <p:cNvSpPr>
            <a:spLocks xmlns:a="http://schemas.openxmlformats.org/drawingml/2006/main" noGrp="1"/>
          </p:cNvSpPr>
          <p:nvPr/>
        </p:nvSpPr>
        <p:spPr>
          <a:xfrm xmlns:a="http://schemas.openxmlformats.org/drawingml/2006/main">
            <a:off x="609600" y="476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62D"/>
                </a:solidFill>
                <a:latin typeface="Arial"/>
                <a:ea typeface="Arial"/>
                <a:cs typeface="Arial"/>
              </a:defRPr>
            </a:defPPr>
          </a:lstStyle>
          <a:p xmlns:a="http://schemas.openxmlformats.org/drawingml/2006/main">
            <a:pPr>
              <a:defRPr sz="3150" b="1">
                <a:solidFill>
                  <a:srgbClr val="17362D"/>
                </a:solidFill>
                <a:latin typeface="Arial"/>
                <a:ea typeface="Arial"/>
                <a:cs typeface="Arial"/>
              </a:defRPr>
            </a:pPr>
            <a:r>
              <a:rPr sz="3150" b="1">
                <a:solidFill>
                  <a:srgbClr val="17362D"/>
                </a:solidFill>
                <a:latin typeface="Arial"/>
                <a:ea typeface="Arial"/>
                <a:cs typeface="Arial"/>
              </a:rPr>
              <a:t>Source, team and reproducibility</a:t>
            </a:r>
          </a:p>
        </p:txBody>
      </p:sp>
      <p:sp>
        <p:nvSpPr>
          <p:cNvPr id="2" name="">
            <a:extLst xmlns:a="http://schemas.openxmlformats.org/drawingml/2006/main">
              <a:ext uri="{FF2B5EF4-FFF2-40B4-BE49-F238E27FC236}">
                <a16:creationId xmlns:a16="http://schemas.microsoft.com/office/drawing/2014/main" id="{43213EC6-3071-4065-BE17-2D63132BD5E6}"/>
              </a:ext>
            </a:extLst>
          </p:cNvPr>
          <p:cNvSpPr>
            <a:spLocks xmlns:a="http://schemas.openxmlformats.org/drawingml/2006/main" noGrp="1"/>
          </p:cNvSpPr>
          <p:nvPr/>
        </p:nvSpPr>
        <p:spPr>
          <a:xfrm xmlns:a="http://schemas.openxmlformats.org/drawingml/2006/main">
            <a:off x="609600" y="63246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A71"/>
                </a:solidFill>
                <a:latin typeface="Arial"/>
                <a:ea typeface="Arial"/>
                <a:cs typeface="Arial"/>
              </a:defRPr>
            </a:defPPr>
          </a:lstStyle>
          <a:p xmlns:a="http://schemas.openxmlformats.org/drawingml/2006/main">
            <a:pPr>
              <a:defRPr sz="900" b="0">
                <a:solidFill>
                  <a:srgbClr val="667A71"/>
                </a:solidFill>
                <a:latin typeface="Arial"/>
                <a:ea typeface="Arial"/>
                <a:cs typeface="Arial"/>
              </a:defRPr>
            </a:pPr>
            <a:r>
              <a:rPr sz="900" b="0">
                <a:solidFill>
                  <a:srgbClr val="667A71"/>
                </a:solidFill>
                <a:latin typeface="Arial"/>
                <a:ea typeface="Arial"/>
                <a:cs typeface="Arial"/>
              </a:rPr>
              <a:t>GLYRA  /  RESEARCH PROTOTYPE</a:t>
            </a:r>
          </a:p>
        </p:txBody>
      </p:sp>
      <p:sp>
        <p:nvSpPr>
          <p:cNvPr id="3" name="">
            <a:extLst xmlns:a="http://schemas.openxmlformats.org/drawingml/2006/main">
              <a:ext uri="{FF2B5EF4-FFF2-40B4-BE49-F238E27FC236}">
                <a16:creationId xmlns:a16="http://schemas.microsoft.com/office/drawing/2014/main" id="{B5671448-CA2A-4660-8EBE-2DD882D36183}"/>
              </a:ext>
            </a:extLst>
          </p:cNvPr>
          <p:cNvSpPr>
            <a:spLocks xmlns:a="http://schemas.openxmlformats.org/drawingml/2006/main" noGrp="1"/>
          </p:cNvSpPr>
          <p:nvPr/>
        </p:nvSpPr>
        <p:spPr>
          <a:xfrm xmlns:a="http://schemas.openxmlformats.org/drawingml/2006/main">
            <a:off x="11172825" y="63055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67A71"/>
                </a:solidFill>
                <a:latin typeface="Arial"/>
                <a:ea typeface="Arial"/>
                <a:cs typeface="Arial"/>
              </a:defRPr>
            </a:defPPr>
          </a:lstStyle>
          <a:p xmlns:a="http://schemas.openxmlformats.org/drawingml/2006/main">
            <a:pPr>
              <a:defRPr sz="975" b="0">
                <a:solidFill>
                  <a:srgbClr val="667A71"/>
                </a:solidFill>
                <a:latin typeface="Arial"/>
                <a:ea typeface="Arial"/>
                <a:cs typeface="Arial"/>
              </a:defRPr>
            </a:pPr>
            <a:r>
              <a:rPr sz="975" b="0">
                <a:solidFill>
                  <a:srgbClr val="667A71"/>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BA4E05D2-D5CC-4498-953A-0D99E547AA76}"/>
              </a:ext>
            </a:extLst>
          </p:cNvPr>
          <p:cNvSpPr>
            <a:spLocks xmlns:a="http://schemas.openxmlformats.org/drawingml/2006/main" noGrp="1"/>
          </p:cNvSpPr>
          <p:nvPr/>
        </p:nvSpPr>
        <p:spPr>
          <a:xfrm xmlns:a="http://schemas.openxmlformats.org/drawingml/2006/main">
            <a:off x="609600" y="16954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7362D"/>
                </a:solidFill>
                <a:latin typeface="Arial"/>
                <a:ea typeface="Arial"/>
                <a:cs typeface="Arial"/>
              </a:defRPr>
            </a:defPPr>
          </a:lstStyle>
          <a:p xmlns:a="http://schemas.openxmlformats.org/drawingml/2006/main">
            <a:pPr>
              <a:defRPr sz="3600" b="1">
                <a:solidFill>
                  <a:srgbClr val="17362D"/>
                </a:solidFill>
                <a:latin typeface="Arial"/>
                <a:ea typeface="Arial"/>
                <a:cs typeface="Arial"/>
              </a:defRPr>
            </a:pPr>
            <a:r>
              <a:rPr sz="3600" b="1">
                <a:solidFill>
                  <a:srgbClr val="17362D"/>
                </a:solidFill>
                <a:latin typeface="Arial"/>
                <a:ea typeface="Arial"/>
                <a:cs typeface="Arial"/>
              </a:rPr>
              <a:t>Sanjay P</a:t>
            </a:r>
          </a:p>
        </p:txBody>
      </p:sp>
      <p:sp>
        <p:nvSpPr>
          <p:cNvPr id="5" name="">
            <a:extLst xmlns:a="http://schemas.openxmlformats.org/drawingml/2006/main">
              <a:ext uri="{FF2B5EF4-FFF2-40B4-BE49-F238E27FC236}">
                <a16:creationId xmlns:a16="http://schemas.microsoft.com/office/drawing/2014/main" id="{A02AF260-FAB1-4B20-813A-3E5183A6CFB3}"/>
              </a:ext>
            </a:extLst>
          </p:cNvPr>
          <p:cNvSpPr>
            <a:spLocks xmlns:a="http://schemas.openxmlformats.org/drawingml/2006/main" noGrp="1"/>
          </p:cNvSpPr>
          <p:nvPr/>
        </p:nvSpPr>
        <p:spPr>
          <a:xfrm xmlns:a="http://schemas.openxmlformats.org/drawingml/2006/main">
            <a:off x="609600" y="2524125"/>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67A71"/>
                </a:solidFill>
                <a:latin typeface="Arial"/>
                <a:ea typeface="Arial"/>
                <a:cs typeface="Arial"/>
              </a:defRPr>
            </a:defPPr>
          </a:lstStyle>
          <a:p xmlns:a="http://schemas.openxmlformats.org/drawingml/2006/main">
            <a:pPr>
              <a:defRPr sz="1950" b="0">
                <a:solidFill>
                  <a:srgbClr val="667A71"/>
                </a:solidFill>
                <a:latin typeface="Arial"/>
                <a:ea typeface="Arial"/>
                <a:cs typeface="Arial"/>
              </a:defRPr>
            </a:pPr>
            <a:r>
              <a:rPr sz="1950" b="0">
                <a:solidFill>
                  <a:srgbClr val="667A71"/>
                </a:solidFill>
                <a:latin typeface="Arial"/>
                <a:ea typeface="Arial"/>
                <a:cs typeface="Arial"/>
              </a:rPr>
              <a:t>Chennai Institute of Technology · AI &amp; ML · Graduating 2029</a:t>
            </a:r>
          </a:p>
          <a:p xmlns:a="http://schemas.openxmlformats.org/drawingml/2006/main">
            <a:pPr>
              <a:defRPr sz="1950" b="0">
                <a:solidFill>
                  <a:srgbClr val="667A71"/>
                </a:solidFill>
                <a:latin typeface="Arial"/>
                <a:ea typeface="Arial"/>
                <a:cs typeface="Arial"/>
              </a:defRPr>
            </a:pPr>
            <a:r>
              <a:rPr sz="1950" b="0">
                <a:solidFill>
                  <a:srgbClr val="667A71"/>
                </a:solidFill>
                <a:latin typeface="Arial"/>
                <a:ea typeface="Arial"/>
                <a:cs typeface="Arial"/>
              </a:rPr>
              <a:t>Solo team: sanjaytenn11</a:t>
            </a:r>
          </a:p>
        </p:txBody>
      </p:sp>
      <p:sp>
        <p:nvSpPr>
          <p:cNvPr id="6" name="">
            <a:extLst xmlns:a="http://schemas.openxmlformats.org/drawingml/2006/main">
              <a:ext uri="{FF2B5EF4-FFF2-40B4-BE49-F238E27FC236}">
                <a16:creationId xmlns:a16="http://schemas.microsoft.com/office/drawing/2014/main" id="{3D1A4B69-7C2A-43C7-8981-691ADD08A5B1}"/>
              </a:ext>
            </a:extLst>
          </p:cNvPr>
          <p:cNvSpPr>
            <a:spLocks xmlns:a="http://schemas.openxmlformats.org/drawingml/2006/main" noGrp="1"/>
          </p:cNvSpPr>
          <p:nvPr/>
        </p:nvSpPr>
        <p:spPr>
          <a:xfrm xmlns:a="http://schemas.openxmlformats.org/drawingml/2006/main">
            <a:off x="609600" y="3705225"/>
            <a:ext cx="104775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62D"/>
                </a:solidFill>
                <a:latin typeface="Arial"/>
                <a:ea typeface="Arial"/>
                <a:cs typeface="Arial"/>
              </a:defRPr>
            </a:defPPr>
          </a:lstStyle>
          <a:p xmlns:a="http://schemas.openxmlformats.org/drawingml/2006/main">
            <a:pPr>
              <a:defRPr sz="1875" b="0">
                <a:solidFill>
                  <a:srgbClr val="17362D"/>
                </a:solidFill>
                <a:latin typeface="Arial"/>
                <a:ea typeface="Arial"/>
                <a:cs typeface="Arial"/>
              </a:defRPr>
            </a:pPr>
            <a:r>
              <a:rPr sz="1875" b="0">
                <a:solidFill>
                  <a:srgbClr val="17362D"/>
                </a:solidFill>
                <a:latin typeface="Arial"/>
                <a:ea typeface="Arial"/>
                <a:cs typeface="Arial"/>
              </a:rPr>
              <a:t>Browser: HTML, CSS, JavaScript</a:t>
            </a:r>
          </a:p>
          <a:p xmlns:a="http://schemas.openxmlformats.org/drawingml/2006/main">
            <a:pPr>
              <a:defRPr sz="1875" b="0">
                <a:solidFill>
                  <a:srgbClr val="17362D"/>
                </a:solidFill>
                <a:latin typeface="Arial"/>
                <a:ea typeface="Arial"/>
                <a:cs typeface="Arial"/>
              </a:defRPr>
            </a:pPr>
            <a:r>
              <a:rPr sz="1875" b="0">
                <a:solidFill>
                  <a:srgbClr val="17362D"/>
                </a:solidFill>
                <a:latin typeface="Arial"/>
                <a:ea typeface="Arial"/>
                <a:cs typeface="Arial"/>
              </a:rPr>
              <a:t>Model training: Python + NumPy</a:t>
            </a:r>
          </a:p>
          <a:p xmlns:a="http://schemas.openxmlformats.org/drawingml/2006/main">
            <a:pPr>
              <a:defRPr sz="1875" b="0">
                <a:solidFill>
                  <a:srgbClr val="17362D"/>
                </a:solidFill>
                <a:latin typeface="Arial"/>
                <a:ea typeface="Arial"/>
                <a:cs typeface="Arial"/>
              </a:defRPr>
            </a:pPr>
            <a:r>
              <a:rPr sz="1875" b="0">
                <a:solidFill>
                  <a:srgbClr val="17362D"/>
                </a:solidFill>
                <a:latin typeface="Arial"/>
                <a:ea typeface="Arial"/>
                <a:cs typeface="Arial"/>
              </a:rPr>
              <a:t>Runtime: bundled coefficients, no inference service</a:t>
            </a:r>
          </a:p>
          <a:p xmlns:a="http://schemas.openxmlformats.org/drawingml/2006/main">
            <a:pPr>
              <a:defRPr sz="1875" b="0">
                <a:solidFill>
                  <a:srgbClr val="17362D"/>
                </a:solidFill>
                <a:latin typeface="Arial"/>
                <a:ea typeface="Arial"/>
                <a:cs typeface="Arial"/>
              </a:defRPr>
            </a:pPr>
            <a:r>
              <a:rPr sz="1875" b="0">
                <a:solidFill>
                  <a:srgbClr val="17362D"/>
                </a:solidFill>
                <a:latin typeface="Arial"/>
                <a:ea typeface="Arial"/>
                <a:cs typeface="Arial"/>
              </a:rPr>
              <a:t>License: MIT</a:t>
            </a:r>
          </a:p>
        </p:txBody>
      </p:sp>
      <p:sp>
        <p:nvSpPr>
          <p:cNvPr id="7" name="">
            <a:extLst xmlns:a="http://schemas.openxmlformats.org/drawingml/2006/main">
              <a:ext uri="{FF2B5EF4-FFF2-40B4-BE49-F238E27FC236}">
                <a16:creationId xmlns:a16="http://schemas.microsoft.com/office/drawing/2014/main" id="{539156A1-CAFF-49CA-ACC1-7DE3286C98A8}"/>
              </a:ext>
            </a:extLst>
          </p:cNvPr>
          <p:cNvSpPr>
            <a:spLocks xmlns:a="http://schemas.openxmlformats.org/drawingml/2006/main" noGrp="1"/>
          </p:cNvSpPr>
          <p:nvPr/>
        </p:nvSpPr>
        <p:spPr>
          <a:xfrm xmlns:a="http://schemas.openxmlformats.org/drawingml/2006/main">
            <a:off x="609600" y="55149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735B"/>
                </a:solidFill>
                <a:latin typeface="Arial"/>
                <a:ea typeface="Arial"/>
                <a:cs typeface="Arial"/>
              </a:defRPr>
            </a:defPPr>
          </a:lstStyle>
          <a:p xmlns:a="http://schemas.openxmlformats.org/drawingml/2006/main">
            <a:pPr>
              <a:defRPr sz="1950" b="1">
                <a:solidFill>
                  <a:srgbClr val="14735B"/>
                </a:solidFill>
                <a:latin typeface="Arial"/>
                <a:ea typeface="Arial"/>
                <a:cs typeface="Arial"/>
              </a:defRPr>
            </a:pPr>
            <a:r>
              <a:rPr sz="1950" b="1">
                <a:solidFill>
                  <a:srgbClr val="14735B"/>
                </a:solidFill>
                <a:latin typeface="Arial"/>
                <a:ea typeface="Arial"/>
                <a:cs typeface="Arial"/>
              </a:rPr>
              <a:t>github.com/nqtexd/glyra-digital-twin</a:t>
            </a:r>
          </a:p>
        </p:txBody>
      </p:sp>
    </p:spTree>
    <p:extLst>
      <p:ext uri="{BB962C8B-B14F-4D97-AF65-F5344CB8AC3E}">
        <p14:creationId xmlns:p14="http://schemas.microsoft.com/office/powerpoint/2010/main" val="5525854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2026-10-16T12:42:15.5100000Z</dcterms:created>
  <dcterms:modified xsi:type="dcterms:W3CDTF">2026-10-16T12:42:15.5100000Z</dcterms:modified>
</coreProperties>
</file>